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57" autoAdjust="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Daylight as a habit tracking application built with the MERN stack. Replace the team-name prompt with the actual team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addresses the gap between setting a goal and maintaining a routine. The challenge is to make repeated logging simple while preserving structured, date-based records for each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Daylight focuses on a low-friction daily loop: define a habit, log it, and see a compact view of progress. The visual tone is intentionally calm. The working project includes account authentication, habit CRUD endpoints, and date-based completion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client sends authenticated REST requests to Express. The backend validates each write, checks ownership, and stores a completion keyed by habit and date. The React view then refreshes its progress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dashboard computes a completion percentage by counting habits whose saved daily count meets the target. H is the number of active habits. MongoDB uses a unique compound index on habit and date, so a daily completion can be upserted rather than duplicated. B-tree lookup/update is expected O(log C), where C is the indexed completion collection size. The current API limits returned history to 500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current working foundation, then describe practical next steps: more complete historical streaks, scheduled delivery for the existing reminder preferences, a hosted deployment with backups and monitoring, and optional shared challenges.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AE9154-3BAC-4103-81C1-BEAFAA58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318F42-D464-479D-B942-AA7B10685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58CD7F7-DDA5-4057-9BF8-4475A4F2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9BD84A-B0B5-4341-B132-7257DFA1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5BAC58-D867-404C-988D-4C5E0DEE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F111250-CEA7-4107-AEE5-EDC44BD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36B2E76-5BD9-4659-97FC-160108DFA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379B190-2C29-41B4-8426-6D81F30AA9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6ED59CD-B3C6-4018-B98D-0427818E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10DB31-8617-4E51-80DE-C9823572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C90C6716-2901-46BE-99E9-1513030CF0A6}"/>
              </a:ext>
            </a:extLst>
          </p:cNvPr>
          <p:cNvSpPr>
            <a:spLocks noGrp="1"/>
          </p:cNvSpPr>
          <p:nvPr/>
        </p:nvSpPr>
        <p:spPr>
          <a:xfrm>
            <a:off x="7924800" y="1990725"/>
            <a:ext cx="3619500" cy="3619500"/>
          </a:xfrm>
          <a:prstGeom prst="ellipse">
            <a:avLst/>
          </a:prstGeom>
          <a:solidFill>
            <a:srgbClr val="254B3A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0D9B9D-E9BB-4F3D-B118-6027EEEE2751}"/>
              </a:ext>
            </a:extLst>
          </p:cNvPr>
          <p:cNvSpPr>
            <a:spLocks noGrp="1"/>
          </p:cNvSpPr>
          <p:nvPr/>
        </p:nvSpPr>
        <p:spPr>
          <a:xfrm>
            <a:off x="8629650" y="2695575"/>
            <a:ext cx="2209800" cy="2209800"/>
          </a:xfrm>
          <a:prstGeom prst="ellipse">
            <a:avLst/>
          </a:prstGeom>
          <a:solidFill>
            <a:srgbClr val="355D45"/>
          </a:solidFill>
          <a:ln w="0">
            <a:noFill/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B2A776-12F6-43D0-BB33-1477C1C02FA2}"/>
              </a:ext>
            </a:extLst>
          </p:cNvPr>
          <p:cNvSpPr>
            <a:spLocks noGrp="1"/>
          </p:cNvSpPr>
          <p:nvPr/>
        </p:nvSpPr>
        <p:spPr>
          <a:xfrm>
            <a:off x="9258300" y="3343275"/>
            <a:ext cx="952500" cy="9525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5D0B58-6D2B-43B3-A8F1-41D1EF02B3FA}"/>
              </a:ext>
            </a:extLst>
          </p:cNvPr>
          <p:cNvSpPr>
            <a:spLocks noGrp="1"/>
          </p:cNvSpPr>
          <p:nvPr/>
        </p:nvSpPr>
        <p:spPr>
          <a:xfrm>
            <a:off x="9742338" y="3598808"/>
            <a:ext cx="95" cy="638175"/>
          </a:xfrm>
          <a:prstGeom prst="line">
            <a:avLst/>
          </a:prstGeom>
          <a:noFill/>
          <a:ln w="38100">
            <a:solidFill>
              <a:srgbClr val="E9F0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E47F28-0F1B-46CB-96D3-49AF109D31F2}"/>
              </a:ext>
            </a:extLst>
          </p:cNvPr>
          <p:cNvSpPr>
            <a:spLocks noGrp="1"/>
          </p:cNvSpPr>
          <p:nvPr/>
        </p:nvSpPr>
        <p:spPr>
          <a:xfrm>
            <a:off x="9370863" y="3736757"/>
            <a:ext cx="371475" cy="190500"/>
          </a:xfrm>
          <a:prstGeom prst="ellipse">
            <a:avLst/>
          </a:prstGeom>
          <a:solidFill>
            <a:srgbClr val="9FBE9B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25F508-4914-4C1B-9637-4230BE8E00B5}"/>
              </a:ext>
            </a:extLst>
          </p:cNvPr>
          <p:cNvSpPr>
            <a:spLocks noGrp="1"/>
          </p:cNvSpPr>
          <p:nvPr/>
        </p:nvSpPr>
        <p:spPr>
          <a:xfrm>
            <a:off x="9672344" y="3540016"/>
            <a:ext cx="361950" cy="190500"/>
          </a:xfrm>
          <a:prstGeom prst="ellipse">
            <a:avLst/>
          </a:prstGeom>
          <a:solidFill>
            <a:srgbClr val="B5CAA6"/>
          </a:solidFill>
          <a:ln w="0">
            <a:noFill/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D92281-99AB-445E-9BF6-2B1AA2B17C9B}"/>
              </a:ext>
            </a:extLst>
          </p:cNvPr>
          <p:cNvSpPr>
            <a:spLocks noGrp="1"/>
          </p:cNvSpPr>
          <p:nvPr/>
        </p:nvSpPr>
        <p:spPr>
          <a:xfrm>
            <a:off x="9701869" y="3895889"/>
            <a:ext cx="361950" cy="190500"/>
          </a:xfrm>
          <a:prstGeom prst="ellipse">
            <a:avLst/>
          </a:prstGeom>
          <a:solidFill>
            <a:srgbClr val="89AB8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34ADB-5238-41AC-8E44-0F6A57E950D3}"/>
              </a:ext>
            </a:extLst>
          </p:cNvPr>
          <p:cNvSpPr>
            <a:spLocks noGrp="1"/>
          </p:cNvSpPr>
          <p:nvPr/>
        </p:nvSpPr>
        <p:spPr>
          <a:xfrm>
            <a:off x="685800" y="3081830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DAYLIGHT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DB0A1-12E8-42E9-8229-16925F280C9E}"/>
              </a:ext>
            </a:extLst>
          </p:cNvPr>
          <p:cNvSpPr>
            <a:spLocks noGrp="1"/>
          </p:cNvSpPr>
          <p:nvPr/>
        </p:nvSpPr>
        <p:spPr>
          <a:xfrm>
            <a:off x="719138" y="387339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0" i="0">
                <a:solidFill>
                  <a:srgbClr val="D8E7D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0" i="0">
                <a:solidFill>
                  <a:srgbClr val="D8E7D6"/>
                </a:solidFill>
                <a:latin typeface="Arial"/>
                <a:ea typeface="Arial"/>
                <a:cs typeface="Arial"/>
              </a:defRPr>
            </a:pPr>
            <a:r>
              <a:rPr sz="2475" b="0" i="0" dirty="0">
                <a:solidFill>
                  <a:srgbClr val="D8E7D6"/>
                </a:solidFill>
                <a:latin typeface="Arial"/>
                <a:ea typeface="Arial"/>
                <a:cs typeface="Arial"/>
              </a:rPr>
              <a:t>Habit Tracking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E1318-4063-4295-A7A4-D48651687247}"/>
              </a:ext>
            </a:extLst>
          </p:cNvPr>
          <p:cNvSpPr>
            <a:spLocks noGrp="1"/>
          </p:cNvSpPr>
          <p:nvPr/>
        </p:nvSpPr>
        <p:spPr>
          <a:xfrm>
            <a:off x="714375" y="3800475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1D1C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 i="0">
                <a:solidFill>
                  <a:srgbClr val="C1D1C2"/>
                </a:solidFill>
                <a:latin typeface="Arial"/>
                <a:ea typeface="Arial"/>
                <a:cs typeface="Arial"/>
              </a:defRPr>
            </a:pPr>
            <a:endParaRPr sz="1800" b="0" i="0" dirty="0">
              <a:solidFill>
                <a:srgbClr val="C1D1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9EDBC-3F0E-4BF6-A1AE-D0FE5FDB4AF5}"/>
              </a:ext>
            </a:extLst>
          </p:cNvPr>
          <p:cNvSpPr>
            <a:spLocks noGrp="1"/>
          </p:cNvSpPr>
          <p:nvPr/>
        </p:nvSpPr>
        <p:spPr>
          <a:xfrm>
            <a:off x="704850" y="4448175"/>
            <a:ext cx="4667250" cy="9525"/>
          </a:xfrm>
          <a:prstGeom prst="rect">
            <a:avLst/>
          </a:prstGeom>
          <a:solidFill>
            <a:srgbClr val="42645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72FAC0-51A8-445B-8E60-02DCEE36EBA8}"/>
              </a:ext>
            </a:extLst>
          </p:cNvPr>
          <p:cNvSpPr>
            <a:spLocks noGrp="1"/>
          </p:cNvSpPr>
          <p:nvPr/>
        </p:nvSpPr>
        <p:spPr>
          <a:xfrm>
            <a:off x="1095375" y="4581525"/>
            <a:ext cx="5429250" cy="1304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TEAM MEMBERS  </a:t>
            </a: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25MVCSMR0022-CHETTE VAISHNAVI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25MVCSMR0009-B.ANJALI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i="0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25MVCSMR0078-S.BHARGAVI</a:t>
            </a:r>
          </a:p>
          <a:p>
            <a:pPr algn="l">
              <a:defRPr sz="1125" b="1" i="0">
                <a:solidFill>
                  <a:srgbClr val="D9E5D8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D9E5D8"/>
                </a:solidFill>
                <a:latin typeface="Arial"/>
                <a:ea typeface="Arial"/>
                <a:cs typeface="Arial"/>
              </a:rPr>
              <a:t>25MVCSMR0061-METTU THARANYA</a:t>
            </a:r>
            <a:endParaRPr sz="1400" b="1" i="0" dirty="0">
              <a:solidFill>
                <a:srgbClr val="D9E5D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512B0-EFE2-47A0-ACF5-4D4DA8D9226E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B8CBB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B8CBBB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B8CBBB"/>
                </a:solidFill>
                <a:latin typeface="Arial"/>
                <a:ea typeface="Arial"/>
                <a:cs typeface="Arial"/>
              </a:rPr>
              <a:t>DOMAIN  Personal productivity · Wellness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DBB72-362C-4D13-8A99-361FE7BAA350}"/>
              </a:ext>
            </a:extLst>
          </p:cNvPr>
          <p:cNvSpPr>
            <a:spLocks noGrp="1"/>
          </p:cNvSpPr>
          <p:nvPr/>
        </p:nvSpPr>
        <p:spPr>
          <a:xfrm>
            <a:off x="704850" y="62484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1BCA6"/>
                </a:solidFill>
                <a:latin typeface="Arial"/>
                <a:ea typeface="Arial"/>
                <a:cs typeface="Arial"/>
              </a:rPr>
              <a:t>MERN STACK  ·  HABITS  ·  PROGRESS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0D3664-229B-4A80-B58C-59B1CE4622B8}"/>
              </a:ext>
            </a:extLst>
          </p:cNvPr>
          <p:cNvSpPr>
            <a:spLocks noGrp="1"/>
          </p:cNvSpPr>
          <p:nvPr/>
        </p:nvSpPr>
        <p:spPr>
          <a:xfrm>
            <a:off x="10858500" y="62484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825" b="0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825" b="0" i="0">
                <a:solidFill>
                  <a:srgbClr val="A1BCA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1BCA6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20D74-92CD-669B-E975-62C09D27D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001" b="12646"/>
          <a:stretch/>
        </p:blipFill>
        <p:spPr>
          <a:xfrm>
            <a:off x="0" y="-177290"/>
            <a:ext cx="12192000" cy="18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2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C5CF49-C0DC-4067-8AFF-FF8EB4AEFD8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02   /   THE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926897-A609-495C-A632-D98165B3348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Good intentions are easy. Consistency is hard.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5DA5292-AB8A-4EC2-B2CC-678E2374165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CC1E7-253C-4751-805F-B3D52FBC7A87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4C036-4C0D-4B81-8A17-8D4C1C891BC2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>
            <a:defPPr algn="l">
              <a:defRPr sz="18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People want healthier routines, but everyday progress is easy to lose track of.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CA913B-C426-4FA4-918E-3EFBE3FB4CE5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490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When habits live in memory or scattered notes, it is difficult to see patterns, keep targets, or know whether a routine is working.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CE118B-6E00-4170-AD7A-1D5CB05307F8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476250" cy="4762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A3091-6AE3-4278-958E-CC121A7C62E0}"/>
              </a:ext>
            </a:extLst>
          </p:cNvPr>
          <p:cNvSpPr>
            <a:spLocks noGrp="1"/>
          </p:cNvSpPr>
          <p:nvPr/>
        </p:nvSpPr>
        <p:spPr>
          <a:xfrm>
            <a:off x="656272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34313F-C18C-4D0C-9AEB-089773F50C8B}"/>
              </a:ext>
            </a:extLst>
          </p:cNvPr>
          <p:cNvSpPr>
            <a:spLocks noGrp="1"/>
          </p:cNvSpPr>
          <p:nvPr/>
        </p:nvSpPr>
        <p:spPr>
          <a:xfrm>
            <a:off x="641985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FB0DE-8ABC-4C2B-8310-4EA8CDFB4796}"/>
              </a:ext>
            </a:extLst>
          </p:cNvPr>
          <p:cNvSpPr>
            <a:spLocks noGrp="1"/>
          </p:cNvSpPr>
          <p:nvPr/>
        </p:nvSpPr>
        <p:spPr>
          <a:xfrm>
            <a:off x="641985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Choose a realistic habit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49425DD-F9A8-4552-B7AD-C74A3138D02D}"/>
              </a:ext>
            </a:extLst>
          </p:cNvPr>
          <p:cNvSpPr>
            <a:spLocks noGrp="1"/>
          </p:cNvSpPr>
          <p:nvPr/>
        </p:nvSpPr>
        <p:spPr>
          <a:xfrm>
            <a:off x="7105650" y="2038350"/>
            <a:ext cx="876300" cy="95"/>
          </a:xfrm>
          <a:prstGeom prst="line">
            <a:avLst/>
          </a:prstGeom>
          <a:noFill/>
          <a:ln w="19050">
            <a:solidFill>
              <a:srgbClr val="BCCBBC"/>
            </a:solidFill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A1FF59A-6369-41EB-972B-3AE99EFCB379}"/>
              </a:ext>
            </a:extLst>
          </p:cNvPr>
          <p:cNvSpPr>
            <a:spLocks noGrp="1"/>
          </p:cNvSpPr>
          <p:nvPr/>
        </p:nvSpPr>
        <p:spPr>
          <a:xfrm>
            <a:off x="7934325" y="1981200"/>
            <a:ext cx="114300" cy="114300"/>
          </a:xfrm>
          <a:prstGeom prst="triangle">
            <a:avLst/>
          </a:prstGeom>
          <a:solidFill>
            <a:srgbClr val="BCCBBC"/>
          </a:solidFill>
          <a:ln w="0">
            <a:noFill/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5BE1CB-97B4-444F-93AB-060A9CBB7C99}"/>
              </a:ext>
            </a:extLst>
          </p:cNvPr>
          <p:cNvSpPr>
            <a:spLocks noGrp="1"/>
          </p:cNvSpPr>
          <p:nvPr/>
        </p:nvSpPr>
        <p:spPr>
          <a:xfrm>
            <a:off x="8172450" y="1800225"/>
            <a:ext cx="476250" cy="476250"/>
          </a:xfrm>
          <a:prstGeom prst="ellipse">
            <a:avLst/>
          </a:prstGeom>
          <a:solidFill>
            <a:srgbClr val="F6EBD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48735E-5B40-4615-8B7A-4CEB4F81D9EF}"/>
              </a:ext>
            </a:extLst>
          </p:cNvPr>
          <p:cNvSpPr>
            <a:spLocks noGrp="1"/>
          </p:cNvSpPr>
          <p:nvPr/>
        </p:nvSpPr>
        <p:spPr>
          <a:xfrm>
            <a:off x="829627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9C794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9C79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C794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4B472-C5BD-4E2A-967E-9742D899DFA1}"/>
              </a:ext>
            </a:extLst>
          </p:cNvPr>
          <p:cNvSpPr>
            <a:spLocks noGrp="1"/>
          </p:cNvSpPr>
          <p:nvPr/>
        </p:nvSpPr>
        <p:spPr>
          <a:xfrm>
            <a:off x="815340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STICK WITH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2AB5-D783-4ACC-9ED5-AFFD7CB252CA}"/>
              </a:ext>
            </a:extLst>
          </p:cNvPr>
          <p:cNvSpPr>
            <a:spLocks noGrp="1"/>
          </p:cNvSpPr>
          <p:nvPr/>
        </p:nvSpPr>
        <p:spPr>
          <a:xfrm>
            <a:off x="815340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Record it day by day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3080570-F4C2-4CD6-9F74-E0D5265A4EC7}"/>
              </a:ext>
            </a:extLst>
          </p:cNvPr>
          <p:cNvSpPr>
            <a:spLocks noGrp="1"/>
          </p:cNvSpPr>
          <p:nvPr/>
        </p:nvSpPr>
        <p:spPr>
          <a:xfrm>
            <a:off x="8839200" y="2038350"/>
            <a:ext cx="876300" cy="95"/>
          </a:xfrm>
          <a:prstGeom prst="line">
            <a:avLst/>
          </a:prstGeom>
          <a:noFill/>
          <a:ln w="19050">
            <a:solidFill>
              <a:srgbClr val="BCCBBC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2E44EAE5-0E55-4895-AFBF-E4F392F1E7A6}"/>
              </a:ext>
            </a:extLst>
          </p:cNvPr>
          <p:cNvSpPr>
            <a:spLocks noGrp="1"/>
          </p:cNvSpPr>
          <p:nvPr/>
        </p:nvSpPr>
        <p:spPr>
          <a:xfrm>
            <a:off x="9667875" y="1981200"/>
            <a:ext cx="114300" cy="114300"/>
          </a:xfrm>
          <a:prstGeom prst="triangle">
            <a:avLst/>
          </a:prstGeom>
          <a:solidFill>
            <a:srgbClr val="BCCBBC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FE6EC-E5C9-43DF-80DB-EC41E45E3E2D}"/>
              </a:ext>
            </a:extLst>
          </p:cNvPr>
          <p:cNvSpPr>
            <a:spLocks noGrp="1"/>
          </p:cNvSpPr>
          <p:nvPr/>
        </p:nvSpPr>
        <p:spPr>
          <a:xfrm>
            <a:off x="9906000" y="1800225"/>
            <a:ext cx="476250" cy="476250"/>
          </a:xfrm>
          <a:prstGeom prst="ellipse">
            <a:avLst/>
          </a:prstGeom>
          <a:solidFill>
            <a:srgbClr val="ECEAF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F3D932-F422-4A75-96A2-8C082960A922}"/>
              </a:ext>
            </a:extLst>
          </p:cNvPr>
          <p:cNvSpPr>
            <a:spLocks noGrp="1"/>
          </p:cNvSpPr>
          <p:nvPr/>
        </p:nvSpPr>
        <p:spPr>
          <a:xfrm>
            <a:off x="10029825" y="18859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83799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 i="0">
                <a:solidFill>
                  <a:srgbClr val="83799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3799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B0162-C98A-44D2-9A8A-B286902E416D}"/>
              </a:ext>
            </a:extLst>
          </p:cNvPr>
          <p:cNvSpPr>
            <a:spLocks noGrp="1"/>
          </p:cNvSpPr>
          <p:nvPr/>
        </p:nvSpPr>
        <p:spPr>
          <a:xfrm>
            <a:off x="9886950" y="2447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SEE PROGRESS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203BD8-B333-49A7-9221-11484E9BF05A}"/>
              </a:ext>
            </a:extLst>
          </p:cNvPr>
          <p:cNvSpPr>
            <a:spLocks noGrp="1"/>
          </p:cNvSpPr>
          <p:nvPr/>
        </p:nvSpPr>
        <p:spPr>
          <a:xfrm>
            <a:off x="9886950" y="2733675"/>
            <a:ext cx="1476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Review completion over time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6033CFC-0DE6-444B-978B-322F65133C8C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DE656-B856-4C4B-A651-002F78FC3272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E2C8E0-AD2E-449B-8CFF-8FA379E0C4E2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Small repeated actions shape long-term wellbeing.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938386-82D7-41DD-BBFC-F85BAD576348}"/>
              </a:ext>
            </a:extLst>
          </p:cNvPr>
          <p:cNvSpPr>
            <a:spLocks noGrp="1"/>
          </p:cNvSpPr>
          <p:nvPr/>
        </p:nvSpPr>
        <p:spPr>
          <a:xfrm>
            <a:off x="4267200" y="404812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REAL-WORLD CHALLENGE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E26EB5-1F2C-4E68-8D5B-E9FF6E0ED23B}"/>
              </a:ext>
            </a:extLst>
          </p:cNvPr>
          <p:cNvSpPr>
            <a:spLocks noGrp="1"/>
          </p:cNvSpPr>
          <p:nvPr/>
        </p:nvSpPr>
        <p:spPr>
          <a:xfrm>
            <a:off x="4267200" y="442912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 useful tracker must make daily logging quick and progress easy to understand.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1E5F1-9278-426E-BBB2-088055F95CA2}"/>
              </a:ext>
            </a:extLst>
          </p:cNvPr>
          <p:cNvSpPr>
            <a:spLocks noGrp="1"/>
          </p:cNvSpPr>
          <p:nvPr/>
        </p:nvSpPr>
        <p:spPr>
          <a:xfrm>
            <a:off x="7924800" y="40481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BUILD CHALLENGES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BCC136-4C7D-4BF9-8901-3F7171B31434}"/>
              </a:ext>
            </a:extLst>
          </p:cNvPr>
          <p:cNvSpPr>
            <a:spLocks noGrp="1"/>
          </p:cNvSpPr>
          <p:nvPr/>
        </p:nvSpPr>
        <p:spPr>
          <a:xfrm>
            <a:off x="7924800" y="4429125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Model habits, targets, dates, and completion reliably; protect each user’s records; keep the interface simple.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DE3F08-6F82-4127-9132-2CBCBBCD511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832AA5-E245-4649-AEC7-A5091B8C6D9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82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115D044-9CB7-4A5F-A65F-B8C79B59680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03   /   OUR INNOVATION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869094-AD67-4C97-9EB6-032E605B34E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calm, clear view of daily progress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401FB0E-69D2-40FA-A7EA-E124AEB8F0A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A206E-CED6-4253-8478-1C1C312FCD2B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CAEA3-6F26-463F-AEC1-31F8B71D563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095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One place to set a habit,</a:t>
            </a:r>
          </a:p>
          <a:p>
            <a:pPr algn="l">
              <a:defRPr sz="23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check in, and reflect.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FBBB6-DF98-40D3-8236-9AB589370339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Daylight combines an approachable daily dashboard with structured habit records and account-based history.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CA9D32-0362-4580-8EA0-ACD74653FF49}"/>
              </a:ext>
            </a:extLst>
          </p:cNvPr>
          <p:cNvSpPr>
            <a:spLocks noGrp="1"/>
          </p:cNvSpPr>
          <p:nvPr/>
        </p:nvSpPr>
        <p:spPr>
          <a:xfrm>
            <a:off x="5114925" y="1838325"/>
            <a:ext cx="323850" cy="3238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DB231-5E70-4A2D-9E7E-B378349C7DF5}"/>
              </a:ext>
            </a:extLst>
          </p:cNvPr>
          <p:cNvSpPr>
            <a:spLocks noGrp="1"/>
          </p:cNvSpPr>
          <p:nvPr/>
        </p:nvSpPr>
        <p:spPr>
          <a:xfrm>
            <a:off x="5153025" y="1895475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8EED3-16D5-4F8C-8CCE-693C98CB7D20}"/>
              </a:ext>
            </a:extLst>
          </p:cNvPr>
          <p:cNvSpPr>
            <a:spLocks noGrp="1"/>
          </p:cNvSpPr>
          <p:nvPr/>
        </p:nvSpPr>
        <p:spPr>
          <a:xfrm>
            <a:off x="5619750" y="18478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Flexible routines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F36E9-F0CF-484A-BEBC-6608516DAE71}"/>
              </a:ext>
            </a:extLst>
          </p:cNvPr>
          <p:cNvSpPr>
            <a:spLocks noGrp="1"/>
          </p:cNvSpPr>
          <p:nvPr/>
        </p:nvSpPr>
        <p:spPr>
          <a:xfrm>
            <a:off x="5619750" y="2181225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Create habits by category, target, unit, and frequency.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19C1A3F-4C86-4CE3-A96E-39AD8B53BF3A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CC1B4-8E66-4F8F-95A3-929D40F53DBE}"/>
              </a:ext>
            </a:extLst>
          </p:cNvPr>
          <p:cNvSpPr>
            <a:spLocks noGrp="1"/>
          </p:cNvSpPr>
          <p:nvPr/>
        </p:nvSpPr>
        <p:spPr>
          <a:xfrm>
            <a:off x="5114925" y="2838450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9DFD0-41AB-43BB-AE57-F6A79B6409C2}"/>
              </a:ext>
            </a:extLst>
          </p:cNvPr>
          <p:cNvSpPr>
            <a:spLocks noGrp="1"/>
          </p:cNvSpPr>
          <p:nvPr/>
        </p:nvSpPr>
        <p:spPr>
          <a:xfrm>
            <a:off x="5153025" y="28956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7EEB4E-C672-447C-B5CD-3DE696C0D380}"/>
              </a:ext>
            </a:extLst>
          </p:cNvPr>
          <p:cNvSpPr>
            <a:spLocks noGrp="1"/>
          </p:cNvSpPr>
          <p:nvPr/>
        </p:nvSpPr>
        <p:spPr>
          <a:xfrm>
            <a:off x="5619750" y="284797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Fast daily check-in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A97DA4-52E3-4D8E-91AF-9D1D246175EC}"/>
              </a:ext>
            </a:extLst>
          </p:cNvPr>
          <p:cNvSpPr>
            <a:spLocks noGrp="1"/>
          </p:cNvSpPr>
          <p:nvPr/>
        </p:nvSpPr>
        <p:spPr>
          <a:xfrm>
            <a:off x="5619750" y="3181350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Mark today complete with a single action.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A353FCE-932A-4EAE-A0D3-5B32990AABC1}"/>
              </a:ext>
            </a:extLst>
          </p:cNvPr>
          <p:cNvSpPr>
            <a:spLocks noGrp="1"/>
          </p:cNvSpPr>
          <p:nvPr/>
        </p:nvSpPr>
        <p:spPr>
          <a:xfrm>
            <a:off x="5619750" y="3648075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623FCF-20B1-4584-A393-9F395D7DE99B}"/>
              </a:ext>
            </a:extLst>
          </p:cNvPr>
          <p:cNvSpPr>
            <a:spLocks noGrp="1"/>
          </p:cNvSpPr>
          <p:nvPr/>
        </p:nvSpPr>
        <p:spPr>
          <a:xfrm>
            <a:off x="5114925" y="3838575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868918-94BD-438E-9A5B-8D5B3135000F}"/>
              </a:ext>
            </a:extLst>
          </p:cNvPr>
          <p:cNvSpPr>
            <a:spLocks noGrp="1"/>
          </p:cNvSpPr>
          <p:nvPr/>
        </p:nvSpPr>
        <p:spPr>
          <a:xfrm>
            <a:off x="5153025" y="3895725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A7EF4-3A2D-4E32-BE12-38430A0421C0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Useful feedback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E0CAF8-4D5D-409F-9BF2-4DB667087DAC}"/>
              </a:ext>
            </a:extLst>
          </p:cNvPr>
          <p:cNvSpPr>
            <a:spLocks noGrp="1"/>
          </p:cNvSpPr>
          <p:nvPr/>
        </p:nvSpPr>
        <p:spPr>
          <a:xfrm>
            <a:off x="5619750" y="4181475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See weekly completion, progress, and streak summaries.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49D30B9-FF26-4D3C-A5E9-8D6602643AD4}"/>
              </a:ext>
            </a:extLst>
          </p:cNvPr>
          <p:cNvSpPr>
            <a:spLocks noGrp="1"/>
          </p:cNvSpPr>
          <p:nvPr/>
        </p:nvSpPr>
        <p:spPr>
          <a:xfrm>
            <a:off x="5619750" y="4648200"/>
            <a:ext cx="5543550" cy="95"/>
          </a:xfrm>
          <a:prstGeom prst="line">
            <a:avLst/>
          </a:prstGeom>
          <a:noFill/>
          <a:ln w="9525">
            <a:solidFill>
              <a:srgbClr val="E8ECE6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622C5E-B33C-4644-9C47-4DEA4035FF5F}"/>
              </a:ext>
            </a:extLst>
          </p:cNvPr>
          <p:cNvSpPr>
            <a:spLocks noGrp="1"/>
          </p:cNvSpPr>
          <p:nvPr/>
        </p:nvSpPr>
        <p:spPr>
          <a:xfrm>
            <a:off x="5114925" y="4838700"/>
            <a:ext cx="323850" cy="323850"/>
          </a:xfrm>
          <a:prstGeom prst="ellipse">
            <a:avLst/>
          </a:prstGeom>
          <a:solidFill>
            <a:srgbClr val="F0F3E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5128F6-74C1-4F26-86A2-7D2EB55E134E}"/>
              </a:ext>
            </a:extLst>
          </p:cNvPr>
          <p:cNvSpPr>
            <a:spLocks noGrp="1"/>
          </p:cNvSpPr>
          <p:nvPr/>
        </p:nvSpPr>
        <p:spPr>
          <a:xfrm>
            <a:off x="5153025" y="489585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82E40-4D59-4C0C-8DEE-057B13D93B1B}"/>
              </a:ext>
            </a:extLst>
          </p:cNvPr>
          <p:cNvSpPr>
            <a:spLocks noGrp="1"/>
          </p:cNvSpPr>
          <p:nvPr/>
        </p:nvSpPr>
        <p:spPr>
          <a:xfrm>
            <a:off x="5619750" y="484822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Private accounts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7F6684-676B-42DB-B234-D0B20047ACA2}"/>
              </a:ext>
            </a:extLst>
          </p:cNvPr>
          <p:cNvSpPr>
            <a:spLocks noGrp="1"/>
          </p:cNvSpPr>
          <p:nvPr/>
        </p:nvSpPr>
        <p:spPr>
          <a:xfrm>
            <a:off x="5619750" y="5181600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JWT sign-in keeps habit records scoped to each user.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49C5C9-E17A-44AF-9373-93B9DBF80C7C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000500" cy="628650"/>
          </a:xfrm>
          <a:prstGeom prst="roundRect">
            <a:avLst>
              <a:gd name="adj" fmla="val 18182"/>
            </a:avLst>
          </a:prstGeom>
          <a:solidFill>
            <a:srgbClr val="EEF4E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1BFD6-5EF4-4C91-BD64-1F9513D4A722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3609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16B4C"/>
                </a:solidFill>
                <a:latin typeface="Arial"/>
                <a:ea typeface="Arial"/>
                <a:cs typeface="Arial"/>
              </a:rPr>
              <a:t>Unique approach  Progress feels supportive, not punitive.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E7EDB5-6AD3-4419-A197-3D2C60A3906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163BE1-C61C-4F5C-AD5A-2A06BB75391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524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A896115-82D5-419C-AF4F-70608F04A8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04   /   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E4C70-4933-459B-9A9D-ADA73AE91627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From a small promise to a visible result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7CD42F5-02F9-4612-ADD6-DE75089D9E2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93D968-9C0D-4F1F-AAE1-CCB6A2C005AC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85053-2D7F-41D7-9437-C3DE70B64AF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30CCD4-2843-4FF4-9A09-0212C304C18C}"/>
              </a:ext>
            </a:extLst>
          </p:cNvPr>
          <p:cNvSpPr>
            <a:spLocks noGrp="1"/>
          </p:cNvSpPr>
          <p:nvPr/>
        </p:nvSpPr>
        <p:spPr>
          <a:xfrm>
            <a:off x="733425" y="2247900"/>
            <a:ext cx="361950" cy="361950"/>
          </a:xfrm>
          <a:prstGeom prst="ellipse">
            <a:avLst/>
          </a:prstGeom>
          <a:solidFill>
            <a:srgbClr val="E7F0E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BD382-11E4-4FA7-A5B7-33B3F98F1A09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83856-A9E3-408A-B2B3-1A630E90247A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97C12-8042-40C5-85DE-7A1B1CB36AB2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Habit name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Target · frequency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72B7702-CF9A-485A-B9C2-0DBBFD01B63E}"/>
              </a:ext>
            </a:extLst>
          </p:cNvPr>
          <p:cNvSpPr>
            <a:spLocks noGrp="1"/>
          </p:cNvSpPr>
          <p:nvPr/>
        </p:nvSpPr>
        <p:spPr>
          <a:xfrm>
            <a:off x="29527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EA4B1BB-8605-468B-B1BF-910DD4131261}"/>
              </a:ext>
            </a:extLst>
          </p:cNvPr>
          <p:cNvSpPr>
            <a:spLocks noGrp="1"/>
          </p:cNvSpPr>
          <p:nvPr/>
        </p:nvSpPr>
        <p:spPr>
          <a:xfrm>
            <a:off x="32575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023DCE-F7C3-41A9-BB8A-FDB742C5296D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72B0C3-6B7A-42A3-A8DC-B29D6D07E7A1}"/>
              </a:ext>
            </a:extLst>
          </p:cNvPr>
          <p:cNvSpPr>
            <a:spLocks noGrp="1"/>
          </p:cNvSpPr>
          <p:nvPr/>
        </p:nvSpPr>
        <p:spPr>
          <a:xfrm>
            <a:off x="3514725" y="2247900"/>
            <a:ext cx="361950" cy="361950"/>
          </a:xfrm>
          <a:prstGeom prst="ellipse">
            <a:avLst/>
          </a:prstGeom>
          <a:solidFill>
            <a:srgbClr val="F4EBD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9CC-51F6-40BB-A89C-333248013D38}"/>
              </a:ext>
            </a:extLst>
          </p:cNvPr>
          <p:cNvSpPr>
            <a:spLocks noGrp="1"/>
          </p:cNvSpPr>
          <p:nvPr/>
        </p:nvSpPr>
        <p:spPr>
          <a:xfrm>
            <a:off x="35718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3656A-D88A-4EE8-9670-2DB8F4BA1949}"/>
              </a:ext>
            </a:extLst>
          </p:cNvPr>
          <p:cNvSpPr>
            <a:spLocks noGrp="1"/>
          </p:cNvSpPr>
          <p:nvPr/>
        </p:nvSpPr>
        <p:spPr>
          <a:xfrm>
            <a:off x="35814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8C329-128E-4748-8876-6B06A234102D}"/>
              </a:ext>
            </a:extLst>
          </p:cNvPr>
          <p:cNvSpPr>
            <a:spLocks noGrp="1"/>
          </p:cNvSpPr>
          <p:nvPr/>
        </p:nvSpPr>
        <p:spPr>
          <a:xfrm>
            <a:off x="35814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React form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REST request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JWT identifies user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1C98D88-F155-43E6-9C5E-A6B82AFF4590}"/>
              </a:ext>
            </a:extLst>
          </p:cNvPr>
          <p:cNvSpPr>
            <a:spLocks noGrp="1"/>
          </p:cNvSpPr>
          <p:nvPr/>
        </p:nvSpPr>
        <p:spPr>
          <a:xfrm>
            <a:off x="57340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98075E6-F787-4717-93A3-583D7F938FE5}"/>
              </a:ext>
            </a:extLst>
          </p:cNvPr>
          <p:cNvSpPr>
            <a:spLocks noGrp="1"/>
          </p:cNvSpPr>
          <p:nvPr/>
        </p:nvSpPr>
        <p:spPr>
          <a:xfrm>
            <a:off x="60388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5CF5E1-F87B-4F39-9179-A17B711A2E17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A7BDD8-D26C-4ACC-B8F0-2103CF871F0D}"/>
              </a:ext>
            </a:extLst>
          </p:cNvPr>
          <p:cNvSpPr>
            <a:spLocks noGrp="1"/>
          </p:cNvSpPr>
          <p:nvPr/>
        </p:nvSpPr>
        <p:spPr>
          <a:xfrm>
            <a:off x="6296025" y="2247900"/>
            <a:ext cx="361950" cy="361950"/>
          </a:xfrm>
          <a:prstGeom prst="ellipse">
            <a:avLst/>
          </a:prstGeom>
          <a:solidFill>
            <a:srgbClr val="ECEAF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702382-885B-4649-BF17-5A2CAD5C71A4}"/>
              </a:ext>
            </a:extLst>
          </p:cNvPr>
          <p:cNvSpPr>
            <a:spLocks noGrp="1"/>
          </p:cNvSpPr>
          <p:nvPr/>
        </p:nvSpPr>
        <p:spPr>
          <a:xfrm>
            <a:off x="63531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47F9C-56A3-43FE-ABD7-16C66275AD4E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F97EF2-F81D-49E5-B9D6-87F8C232FA29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Validate fields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Match habit + date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Save completion count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35BDEBA-A242-40C6-A04F-62703E39472A}"/>
              </a:ext>
            </a:extLst>
          </p:cNvPr>
          <p:cNvSpPr>
            <a:spLocks noGrp="1"/>
          </p:cNvSpPr>
          <p:nvPr/>
        </p:nvSpPr>
        <p:spPr>
          <a:xfrm>
            <a:off x="8515350" y="3009900"/>
            <a:ext cx="381000" cy="95"/>
          </a:xfrm>
          <a:prstGeom prst="line">
            <a:avLst/>
          </a:prstGeom>
          <a:noFill/>
          <a:ln w="19050">
            <a:solidFill>
              <a:srgbClr val="8FAA91"/>
            </a:solidFill>
            <a:prstDash val="solid"/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24E8D18-DF87-4E20-9A3F-7F9D2763F4F7}"/>
              </a:ext>
            </a:extLst>
          </p:cNvPr>
          <p:cNvSpPr>
            <a:spLocks noGrp="1"/>
          </p:cNvSpPr>
          <p:nvPr/>
        </p:nvSpPr>
        <p:spPr>
          <a:xfrm>
            <a:off x="8820150" y="2943225"/>
            <a:ext cx="133350" cy="133350"/>
          </a:xfrm>
          <a:prstGeom prst="triangle">
            <a:avLst/>
          </a:prstGeom>
          <a:solidFill>
            <a:srgbClr val="8FAA91"/>
          </a:solidFill>
          <a:ln w="0">
            <a:noFill/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DA473D-A692-48B9-B432-E3F23BEFF9AD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2860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9E2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C8A2F58-ACF5-4F81-BD5C-EE33F6773867}"/>
              </a:ext>
            </a:extLst>
          </p:cNvPr>
          <p:cNvSpPr>
            <a:spLocks noGrp="1"/>
          </p:cNvSpPr>
          <p:nvPr/>
        </p:nvSpPr>
        <p:spPr>
          <a:xfrm>
            <a:off x="9077325" y="2247900"/>
            <a:ext cx="361950" cy="361950"/>
          </a:xfrm>
          <a:prstGeom prst="ellipse">
            <a:avLst/>
          </a:prstGeom>
          <a:solidFill>
            <a:srgbClr val="E5EFF0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74FAFA-6345-438F-88A9-D8B0DB3892AE}"/>
              </a:ext>
            </a:extLst>
          </p:cNvPr>
          <p:cNvSpPr>
            <a:spLocks noGrp="1"/>
          </p:cNvSpPr>
          <p:nvPr/>
        </p:nvSpPr>
        <p:spPr>
          <a:xfrm>
            <a:off x="9134475" y="2324100"/>
            <a:ext cx="2571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420041-190A-4242-B836-5257919CF645}"/>
              </a:ext>
            </a:extLst>
          </p:cNvPr>
          <p:cNvSpPr>
            <a:spLocks noGrp="1"/>
          </p:cNvSpPr>
          <p:nvPr/>
        </p:nvSpPr>
        <p:spPr>
          <a:xfrm>
            <a:off x="9144000" y="2762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98DB7C-3671-4675-9AE4-5490DB92E01A}"/>
              </a:ext>
            </a:extLst>
          </p:cNvPr>
          <p:cNvSpPr>
            <a:spLocks noGrp="1"/>
          </p:cNvSpPr>
          <p:nvPr/>
        </p:nvSpPr>
        <p:spPr>
          <a:xfrm>
            <a:off x="9144000" y="31051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Today’s status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Weekly progress</a:t>
            </a:r>
          </a:p>
          <a:p>
            <a:pPr algn="l">
              <a:defRPr sz="1275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Insights 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56CE0-C502-4E59-BC4C-43B15EAEDAC3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USER JOURNEY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7FB67-A6AE-4BD4-A98F-01FA9A34E888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28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Create an account  →  add a habit  →  check in each day  →  review progress  →  adjust the routine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B54BAD-6C4B-4EE7-9DC7-896A10BD47E2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MongoDB stores user, habit, and completion records. The dashboard refreshes from the API after each saved action.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EDED11-03FB-4F72-9BBA-32C165A879C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CD5BE4-E53C-45B3-85D8-3CE95E7B36B8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522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1DD2B20-3D55-40A7-9EC6-20D5323DADF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05   /   TECHNOLOGY &amp;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27BDAF-CEC5-43EA-A5C1-A4AC086E180A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MERN foundation with date-based tracking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7345FDC-A75A-4624-81A8-533B7B229BB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105F8-1E76-4B95-B0EC-A9EBD127601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7C91A-EDF2-4B82-8D41-9B42D7E2FBA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271A90-6D21-476B-B196-49F2F36924DB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438150" cy="4381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760E2-C5EC-4870-9F6C-553107424112}"/>
              </a:ext>
            </a:extLst>
          </p:cNvPr>
          <p:cNvSpPr>
            <a:spLocks noGrp="1"/>
          </p:cNvSpPr>
          <p:nvPr/>
        </p:nvSpPr>
        <p:spPr>
          <a:xfrm>
            <a:off x="752475" y="22098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1F181-97E0-4E6D-9FBF-C64C4B278972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91B110-12AC-42F7-9689-33E8FA6F2822}"/>
              </a:ext>
            </a:extLst>
          </p:cNvPr>
          <p:cNvSpPr>
            <a:spLocks noGrp="1"/>
          </p:cNvSpPr>
          <p:nvPr/>
        </p:nvSpPr>
        <p:spPr>
          <a:xfrm>
            <a:off x="1238250" y="23907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Users · habits · daily completions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F53F511-4015-4772-AAA8-F0212F406231}"/>
              </a:ext>
            </a:extLst>
          </p:cNvPr>
          <p:cNvSpPr>
            <a:spLocks noGrp="1"/>
          </p:cNvSpPr>
          <p:nvPr/>
        </p:nvSpPr>
        <p:spPr>
          <a:xfrm>
            <a:off x="1238250" y="275272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CAE377-2938-4B4A-A3C9-9B1A851602FD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438150" cy="438150"/>
          </a:xfrm>
          <a:prstGeom prst="ellipse">
            <a:avLst/>
          </a:prstGeom>
          <a:solidFill>
            <a:srgbClr val="F2EEE3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72CA9-5159-47A0-92C5-BDC1770A943B}"/>
              </a:ext>
            </a:extLst>
          </p:cNvPr>
          <p:cNvSpPr>
            <a:spLocks noGrp="1"/>
          </p:cNvSpPr>
          <p:nvPr/>
        </p:nvSpPr>
        <p:spPr>
          <a:xfrm>
            <a:off x="752475" y="299085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92CA0-F936-482F-94E2-2A9416A054FB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Express.js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87933-AA34-4757-85B3-BF495620988D}"/>
              </a:ext>
            </a:extLst>
          </p:cNvPr>
          <p:cNvSpPr>
            <a:spLocks noGrp="1"/>
          </p:cNvSpPr>
          <p:nvPr/>
        </p:nvSpPr>
        <p:spPr>
          <a:xfrm>
            <a:off x="1238250" y="31718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REST endpoints and request validation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4DD32AD-E704-455A-B49B-2C167ECBFD9D}"/>
              </a:ext>
            </a:extLst>
          </p:cNvPr>
          <p:cNvSpPr>
            <a:spLocks noGrp="1"/>
          </p:cNvSpPr>
          <p:nvPr/>
        </p:nvSpPr>
        <p:spPr>
          <a:xfrm>
            <a:off x="1238250" y="353377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6613FE-E1E5-4BB8-9105-4241A038661E}"/>
              </a:ext>
            </a:extLst>
          </p:cNvPr>
          <p:cNvSpPr>
            <a:spLocks noGrp="1"/>
          </p:cNvSpPr>
          <p:nvPr/>
        </p:nvSpPr>
        <p:spPr>
          <a:xfrm>
            <a:off x="647700" y="3657600"/>
            <a:ext cx="438150" cy="438150"/>
          </a:xfrm>
          <a:prstGeom prst="ellipse">
            <a:avLst/>
          </a:prstGeom>
          <a:solidFill>
            <a:srgbClr val="EAEAF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AD01B-AB9D-4166-9B58-73D35C6B95E1}"/>
              </a:ext>
            </a:extLst>
          </p:cNvPr>
          <p:cNvSpPr>
            <a:spLocks noGrp="1"/>
          </p:cNvSpPr>
          <p:nvPr/>
        </p:nvSpPr>
        <p:spPr>
          <a:xfrm>
            <a:off x="752475" y="37719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948692-BE79-4D01-9A0A-74C97D803C1E}"/>
              </a:ext>
            </a:extLst>
          </p:cNvPr>
          <p:cNvSpPr>
            <a:spLocks noGrp="1"/>
          </p:cNvSpPr>
          <p:nvPr/>
        </p:nvSpPr>
        <p:spPr>
          <a:xfrm>
            <a:off x="1238250" y="36766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React.js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4097D-4605-4D33-B8D8-C67A01E805A0}"/>
              </a:ext>
            </a:extLst>
          </p:cNvPr>
          <p:cNvSpPr>
            <a:spLocks noGrp="1"/>
          </p:cNvSpPr>
          <p:nvPr/>
        </p:nvSpPr>
        <p:spPr>
          <a:xfrm>
            <a:off x="1238250" y="3952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Responsive dashboard and user flows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6FD05C6-F488-48EB-81EA-0D7F4FBCFF91}"/>
              </a:ext>
            </a:extLst>
          </p:cNvPr>
          <p:cNvSpPr>
            <a:spLocks noGrp="1"/>
          </p:cNvSpPr>
          <p:nvPr/>
        </p:nvSpPr>
        <p:spPr>
          <a:xfrm>
            <a:off x="1238250" y="4314825"/>
            <a:ext cx="3867150" cy="95"/>
          </a:xfrm>
          <a:prstGeom prst="line">
            <a:avLst/>
          </a:prstGeom>
          <a:noFill/>
          <a:ln w="9525">
            <a:solidFill>
              <a:srgbClr val="EDF0EB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0E0F2F-CACA-46AA-B8AF-826671C9F45F}"/>
              </a:ext>
            </a:extLst>
          </p:cNvPr>
          <p:cNvSpPr>
            <a:spLocks noGrp="1"/>
          </p:cNvSpPr>
          <p:nvPr/>
        </p:nvSpPr>
        <p:spPr>
          <a:xfrm>
            <a:off x="647700" y="4438650"/>
            <a:ext cx="438150" cy="438150"/>
          </a:xfrm>
          <a:prstGeom prst="ellipse">
            <a:avLst/>
          </a:prstGeom>
          <a:solidFill>
            <a:srgbClr val="EAF0E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EA54E1-FADA-4153-8A28-C2724F49819A}"/>
              </a:ext>
            </a:extLst>
          </p:cNvPr>
          <p:cNvSpPr>
            <a:spLocks noGrp="1"/>
          </p:cNvSpPr>
          <p:nvPr/>
        </p:nvSpPr>
        <p:spPr>
          <a:xfrm>
            <a:off x="752475" y="455295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6A8F88-C0C9-4A2D-ACC8-099262C25466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Node.js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096B89-612F-4C2B-B6C8-2985C5F4575E}"/>
              </a:ext>
            </a:extLst>
          </p:cNvPr>
          <p:cNvSpPr>
            <a:spLocks noGrp="1"/>
          </p:cNvSpPr>
          <p:nvPr/>
        </p:nvSpPr>
        <p:spPr>
          <a:xfrm>
            <a:off x="1238250" y="4733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API runtime, JWT, password hashing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53137F5-6323-4676-B446-4FA297C4A9F8}"/>
              </a:ext>
            </a:extLst>
          </p:cNvPr>
          <p:cNvSpPr>
            <a:spLocks noGrp="1"/>
          </p:cNvSpPr>
          <p:nvPr/>
        </p:nvSpPr>
        <p:spPr>
          <a:xfrm>
            <a:off x="5715000" y="1790700"/>
            <a:ext cx="95" cy="3867150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E43863-98E3-4F99-8083-BA1F5FD8B863}"/>
              </a:ext>
            </a:extLst>
          </p:cNvPr>
          <p:cNvSpPr>
            <a:spLocks noGrp="1"/>
          </p:cNvSpPr>
          <p:nvPr/>
        </p:nvSpPr>
        <p:spPr>
          <a:xfrm>
            <a:off x="6153150" y="17335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COMPLETION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82340C-3AEE-487C-B3CE-538A8E801B72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5048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Progress = habits meeting target ÷ active habits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692794-BF57-4F49-B654-08D3101349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A completion is stored for one habit and one calendar date. The unique (habit, date) index supports safe updates.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F7C205-4EF4-47E4-9B0F-FE7387FE6C6A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048250" cy="1276350"/>
          </a:xfrm>
          <a:prstGeom prst="roundRect">
            <a:avLst>
              <a:gd name="adj" fmla="val 8955"/>
            </a:avLst>
          </a:prstGeom>
          <a:solidFill>
            <a:srgbClr val="F0F4E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58478-D606-496C-853F-C82BBD7483A2}"/>
              </a:ext>
            </a:extLst>
          </p:cNvPr>
          <p:cNvSpPr>
            <a:spLocks noGrp="1"/>
          </p:cNvSpPr>
          <p:nvPr/>
        </p:nvSpPr>
        <p:spPr>
          <a:xfrm>
            <a:off x="6381750" y="37719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COMPLEXITY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59FEF5-3090-461B-B905-337199868B41}"/>
              </a:ext>
            </a:extLst>
          </p:cNvPr>
          <p:cNvSpPr>
            <a:spLocks noGrp="1"/>
          </p:cNvSpPr>
          <p:nvPr/>
        </p:nvSpPr>
        <p:spPr>
          <a:xfrm>
            <a:off x="6381750" y="4114800"/>
            <a:ext cx="451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Daily summary: O(H)   ·   H = active habits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A31515-71D7-423A-A529-ED5DBF6FC1B7}"/>
              </a:ext>
            </a:extLst>
          </p:cNvPr>
          <p:cNvSpPr>
            <a:spLocks noGrp="1"/>
          </p:cNvSpPr>
          <p:nvPr/>
        </p:nvSpPr>
        <p:spPr>
          <a:xfrm>
            <a:off x="6381750" y="4467225"/>
            <a:ext cx="445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Indexed completion lookup/update: O(log C) expected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50361F-150E-4863-93E2-D4B22EED4D01}"/>
              </a:ext>
            </a:extLst>
          </p:cNvPr>
          <p:cNvSpPr>
            <a:spLocks noGrp="1"/>
          </p:cNvSpPr>
          <p:nvPr/>
        </p:nvSpPr>
        <p:spPr>
          <a:xfrm>
            <a:off x="6153150" y="5133975"/>
            <a:ext cx="4972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History requests are capped at 500 records to keep the weekly view bounded.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8E18B9-FC13-4108-8F3E-E94D4868EA4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21005D-8376-46D6-A2A4-6FE2970ADC9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722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F744AB7-C2AF-403A-9CF8-69E2F099CD6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06   /   DEMO &amp;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F90B07-DBA5-4F59-B2D6-37C15A062AA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quick check-in, a clearer picture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5D2A42-FCDC-4C81-8847-BA5B079B620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DDE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F5138-5C10-485D-849C-85F46682838D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2D23F3-9649-49DA-A4F2-66C56BBCBE4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7239000" cy="40386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DE4D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8F9BBF-1212-469D-8B7C-28396B8FF72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352550" cy="4038600"/>
          </a:xfrm>
          <a:prstGeom prst="roundRect">
            <a:avLst>
              <a:gd name="adj" fmla="val 9859"/>
            </a:avLst>
          </a:prstGeom>
          <a:solidFill>
            <a:srgbClr val="FBFCF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90B7E-FD88-406E-9321-ABC932D5596A}"/>
              </a:ext>
            </a:extLst>
          </p:cNvPr>
          <p:cNvSpPr>
            <a:spLocks noGrp="1"/>
          </p:cNvSpPr>
          <p:nvPr/>
        </p:nvSpPr>
        <p:spPr>
          <a:xfrm>
            <a:off x="1828800" y="1752600"/>
            <a:ext cx="133350" cy="403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7B0165-5240-40E9-8FF2-EAF18B341A7E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lang="en-IN" sz="1350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✳ daylight</a:t>
            </a:r>
            <a:endParaRPr sz="1350" b="1" i="0" dirty="0">
              <a:solidFill>
                <a:srgbClr val="2435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2325D-52D1-4761-B617-5A96D74ECAF8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9AA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9AA39A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39A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9370F4-8E86-460C-86FF-621C78BC9F11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1066800" cy="276225"/>
          </a:xfrm>
          <a:prstGeom prst="roundRect">
            <a:avLst>
              <a:gd name="adj" fmla="val 24138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C68D1E-5A02-438F-8DA2-20E225C18164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D87A4-F94F-4E13-BC31-EE7BF4D86C8D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01A9A8-E0F7-41C1-938B-6C5714863304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FAA05-B975-4E98-8DD0-D8DB95CEA2AD}"/>
              </a:ext>
            </a:extLst>
          </p:cNvPr>
          <p:cNvSpPr>
            <a:spLocks noGrp="1"/>
          </p:cNvSpPr>
          <p:nvPr/>
        </p:nvSpPr>
        <p:spPr>
          <a:xfrm>
            <a:off x="1047750" y="3057525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My habits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61E214-B96F-4CCC-AD55-4B6641769A5E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933A81-DCA0-4D71-AFE0-BF835B6B0250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F08BF0-A38D-4ED9-9E6F-EB21C55B103D}"/>
              </a:ext>
            </a:extLst>
          </p:cNvPr>
          <p:cNvSpPr>
            <a:spLocks noGrp="1"/>
          </p:cNvSpPr>
          <p:nvPr/>
        </p:nvSpPr>
        <p:spPr>
          <a:xfrm>
            <a:off x="2171700" y="1962150"/>
            <a:ext cx="4191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My space   /  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E3CFC7-60FA-4F73-BFF3-A20B81D54EB1}"/>
              </a:ext>
            </a:extLst>
          </p:cNvPr>
          <p:cNvSpPr>
            <a:spLocks noGrp="1"/>
          </p:cNvSpPr>
          <p:nvPr/>
        </p:nvSpPr>
        <p:spPr>
          <a:xfrm>
            <a:off x="2171700" y="232410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lang="en-US" sz="1875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A little progress, every day.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E13C8A-8441-4464-96C4-A9015739819A}"/>
              </a:ext>
            </a:extLst>
          </p:cNvPr>
          <p:cNvSpPr>
            <a:spLocks noGrp="1"/>
          </p:cNvSpPr>
          <p:nvPr/>
        </p:nvSpPr>
        <p:spPr>
          <a:xfrm>
            <a:off x="2171700" y="267652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Showing up for yourself looks good on you.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C6938A-F95A-4499-806F-1966EBDF3939}"/>
              </a:ext>
            </a:extLst>
          </p:cNvPr>
          <p:cNvSpPr>
            <a:spLocks noGrp="1"/>
          </p:cNvSpPr>
          <p:nvPr/>
        </p:nvSpPr>
        <p:spPr>
          <a:xfrm>
            <a:off x="2171700" y="3009900"/>
            <a:ext cx="5362575" cy="1047750"/>
          </a:xfrm>
          <a:prstGeom prst="roundRect">
            <a:avLst>
              <a:gd name="adj" fmla="val 9091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B83DC-3055-47B6-A8B0-BC5431ED1C67}"/>
              </a:ext>
            </a:extLst>
          </p:cNvPr>
          <p:cNvSpPr>
            <a:spLocks noGrp="1"/>
          </p:cNvSpPr>
          <p:nvPr/>
        </p:nvSpPr>
        <p:spPr>
          <a:xfrm>
            <a:off x="2362200" y="3190875"/>
            <a:ext cx="228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TODAY, AT YOUR PACE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F7E4B-7B1A-4B7C-A393-0D487FE313BA}"/>
              </a:ext>
            </a:extLst>
          </p:cNvPr>
          <p:cNvSpPr>
            <a:spLocks noGrp="1"/>
          </p:cNvSpPr>
          <p:nvPr/>
        </p:nvSpPr>
        <p:spPr>
          <a:xfrm>
            <a:off x="2362200" y="34099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307" lnSpcReduction="20000"/>
          </a:bodyPr>
          <a:lstStyle>
            <a:def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24352C"/>
                </a:solidFill>
                <a:latin typeface="Arial"/>
                <a:ea typeface="Arial"/>
                <a:cs typeface="Arial"/>
              </a:rPr>
              <a:t>You’re growing something good.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65D3F8-1C9F-4461-B921-498E4B50274B}"/>
              </a:ext>
            </a:extLst>
          </p:cNvPr>
          <p:cNvSpPr>
            <a:spLocks noGrp="1"/>
          </p:cNvSpPr>
          <p:nvPr/>
        </p:nvSpPr>
        <p:spPr>
          <a:xfrm>
            <a:off x="2362200" y="3781425"/>
            <a:ext cx="2809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Every small promise is a reason to feel proud.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52EC0D-4AF8-48B2-84B9-9C1A7CC9026E}"/>
              </a:ext>
            </a:extLst>
          </p:cNvPr>
          <p:cNvSpPr>
            <a:spLocks noGrp="1"/>
          </p:cNvSpPr>
          <p:nvPr/>
        </p:nvSpPr>
        <p:spPr>
          <a:xfrm>
            <a:off x="2171700" y="42100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CE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E93B5F-54E2-44EF-B281-B4652C6A2DB5}"/>
              </a:ext>
            </a:extLst>
          </p:cNvPr>
          <p:cNvSpPr>
            <a:spLocks noGrp="1"/>
          </p:cNvSpPr>
          <p:nvPr/>
        </p:nvSpPr>
        <p:spPr>
          <a:xfrm>
            <a:off x="2314575" y="4324350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DAILY PROGRESS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87A799-3F04-4E87-8047-3DF8D4E421B7}"/>
              </a:ext>
            </a:extLst>
          </p:cNvPr>
          <p:cNvSpPr>
            <a:spLocks noGrp="1"/>
          </p:cNvSpPr>
          <p:nvPr/>
        </p:nvSpPr>
        <p:spPr>
          <a:xfrm>
            <a:off x="2314575" y="4514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4643D0-90E1-4F4A-93B1-53F359A6CC62}"/>
              </a:ext>
            </a:extLst>
          </p:cNvPr>
          <p:cNvSpPr>
            <a:spLocks noGrp="1"/>
          </p:cNvSpPr>
          <p:nvPr/>
        </p:nvSpPr>
        <p:spPr>
          <a:xfrm>
            <a:off x="2857500" y="4591050"/>
            <a:ext cx="819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1 of 5 done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10A9960-0CAB-4B62-BC9B-EE81376DF350}"/>
              </a:ext>
            </a:extLst>
          </p:cNvPr>
          <p:cNvSpPr>
            <a:spLocks noGrp="1"/>
          </p:cNvSpPr>
          <p:nvPr/>
        </p:nvSpPr>
        <p:spPr>
          <a:xfrm>
            <a:off x="3905250" y="42100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CE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19B45F-8619-4561-BCAD-2D2A0E960301}"/>
              </a:ext>
            </a:extLst>
          </p:cNvPr>
          <p:cNvSpPr>
            <a:spLocks noGrp="1"/>
          </p:cNvSpPr>
          <p:nvPr/>
        </p:nvSpPr>
        <p:spPr>
          <a:xfrm>
            <a:off x="4048125" y="4324350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1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BEST STREAK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3DF427-A1C2-4E5C-85E6-6B3ECCB1364D}"/>
              </a:ext>
            </a:extLst>
          </p:cNvPr>
          <p:cNvSpPr>
            <a:spLocks noGrp="1"/>
          </p:cNvSpPr>
          <p:nvPr/>
        </p:nvSpPr>
        <p:spPr>
          <a:xfrm>
            <a:off x="4048125" y="4514850"/>
            <a:ext cx="71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DDA686-D5F0-44E6-8771-7A2B5276641C}"/>
              </a:ext>
            </a:extLst>
          </p:cNvPr>
          <p:cNvSpPr>
            <a:spLocks noGrp="1"/>
          </p:cNvSpPr>
          <p:nvPr/>
        </p:nvSpPr>
        <p:spPr>
          <a:xfrm>
            <a:off x="4400550" y="4591050"/>
            <a:ext cx="89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days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32318F-268B-4035-85BD-8CDE768AD62C}"/>
              </a:ext>
            </a:extLst>
          </p:cNvPr>
          <p:cNvSpPr>
            <a:spLocks noGrp="1"/>
          </p:cNvSpPr>
          <p:nvPr/>
        </p:nvSpPr>
        <p:spPr>
          <a:xfrm>
            <a:off x="2171700" y="5133975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TODAY’S HABITS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4CDFB1E-95F5-45DE-9E42-D10404F7C991}"/>
              </a:ext>
            </a:extLst>
          </p:cNvPr>
          <p:cNvSpPr>
            <a:spLocks noGrp="1"/>
          </p:cNvSpPr>
          <p:nvPr/>
        </p:nvSpPr>
        <p:spPr>
          <a:xfrm>
            <a:off x="2171700" y="545782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0BB275-49C1-4798-8D3E-4D02CD0438BC}"/>
              </a:ext>
            </a:extLst>
          </p:cNvPr>
          <p:cNvSpPr>
            <a:spLocks noGrp="1"/>
          </p:cNvSpPr>
          <p:nvPr/>
        </p:nvSpPr>
        <p:spPr>
          <a:xfrm>
            <a:off x="2209800" y="534352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Water · Wellness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BB111B-D96F-4F96-9268-7F03C6667F55}"/>
              </a:ext>
            </a:extLst>
          </p:cNvPr>
          <p:cNvSpPr>
            <a:spLocks noGrp="1"/>
          </p:cNvSpPr>
          <p:nvPr/>
        </p:nvSpPr>
        <p:spPr>
          <a:xfrm>
            <a:off x="6772275" y="534352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3B4D350B-87DB-41F7-9ADF-C5D025ED65B4}"/>
              </a:ext>
            </a:extLst>
          </p:cNvPr>
          <p:cNvSpPr>
            <a:spLocks noGrp="1"/>
          </p:cNvSpPr>
          <p:nvPr/>
        </p:nvSpPr>
        <p:spPr>
          <a:xfrm>
            <a:off x="2171700" y="559117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AD3F0C-9C72-4BD2-B588-428D642FB2D0}"/>
              </a:ext>
            </a:extLst>
          </p:cNvPr>
          <p:cNvSpPr>
            <a:spLocks noGrp="1"/>
          </p:cNvSpPr>
          <p:nvPr/>
        </p:nvSpPr>
        <p:spPr>
          <a:xfrm>
            <a:off x="2209800" y="547687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Read · Learning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2E6FEE-B882-45E9-B0D0-3E6C969678B8}"/>
              </a:ext>
            </a:extLst>
          </p:cNvPr>
          <p:cNvSpPr>
            <a:spLocks noGrp="1"/>
          </p:cNvSpPr>
          <p:nvPr/>
        </p:nvSpPr>
        <p:spPr>
          <a:xfrm>
            <a:off x="6772275" y="547687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8A961CB7-1F71-4ECC-BD54-7D6467A4D9AA}"/>
              </a:ext>
            </a:extLst>
          </p:cNvPr>
          <p:cNvSpPr>
            <a:spLocks noGrp="1"/>
          </p:cNvSpPr>
          <p:nvPr/>
        </p:nvSpPr>
        <p:spPr>
          <a:xfrm>
            <a:off x="2171700" y="5724525"/>
            <a:ext cx="5353050" cy="95"/>
          </a:xfrm>
          <a:prstGeom prst="line">
            <a:avLst/>
          </a:prstGeom>
          <a:noFill/>
          <a:ln w="9525">
            <a:solidFill>
              <a:srgbClr val="EEF0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839560-0ED3-4E6B-9671-2E8C90897ACD}"/>
              </a:ext>
            </a:extLst>
          </p:cNvPr>
          <p:cNvSpPr>
            <a:spLocks noGrp="1"/>
          </p:cNvSpPr>
          <p:nvPr/>
        </p:nvSpPr>
        <p:spPr>
          <a:xfrm>
            <a:off x="2209800" y="5610225"/>
            <a:ext cx="3143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" b="0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Move · Fitness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28CB2A-E83D-4A9D-8550-075722EDD22C}"/>
              </a:ext>
            </a:extLst>
          </p:cNvPr>
          <p:cNvSpPr>
            <a:spLocks noGrp="1"/>
          </p:cNvSpPr>
          <p:nvPr/>
        </p:nvSpPr>
        <p:spPr>
          <a:xfrm>
            <a:off x="6772275" y="5610225"/>
            <a:ext cx="685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60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Not yet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1CBC5C-24FC-4715-ACC2-4607B24B609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Illustrative app preview · progress figures use sample data, not measured user results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12121B-E72D-414C-9CE0-17A820CAEFDB}"/>
              </a:ext>
            </a:extLst>
          </p:cNvPr>
          <p:cNvSpPr>
            <a:spLocks noGrp="1"/>
          </p:cNvSpPr>
          <p:nvPr/>
        </p:nvSpPr>
        <p:spPr>
          <a:xfrm>
            <a:off x="8286750" y="181927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F087DE4-BC50-49C7-A804-B3E301867C75}"/>
              </a:ext>
            </a:extLst>
          </p:cNvPr>
          <p:cNvSpPr>
            <a:spLocks noGrp="1"/>
          </p:cNvSpPr>
          <p:nvPr/>
        </p:nvSpPr>
        <p:spPr>
          <a:xfrm>
            <a:off x="8305800" y="2228850"/>
            <a:ext cx="285750" cy="2857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E7F595-1E6D-4E11-9084-8F899BB18550}"/>
              </a:ext>
            </a:extLst>
          </p:cNvPr>
          <p:cNvSpPr>
            <a:spLocks noGrp="1"/>
          </p:cNvSpPr>
          <p:nvPr/>
        </p:nvSpPr>
        <p:spPr>
          <a:xfrm>
            <a:off x="8353425" y="22955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C8C0208-C9FF-4485-9237-2ED767DED74F}"/>
              </a:ext>
            </a:extLst>
          </p:cNvPr>
          <p:cNvSpPr>
            <a:spLocks noGrp="1"/>
          </p:cNvSpPr>
          <p:nvPr/>
        </p:nvSpPr>
        <p:spPr>
          <a:xfrm>
            <a:off x="8715375" y="22383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See today at a glance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AA2A52-7D33-40E1-8FBA-B1BEB2740FD9}"/>
              </a:ext>
            </a:extLst>
          </p:cNvPr>
          <p:cNvSpPr>
            <a:spLocks noGrp="1"/>
          </p:cNvSpPr>
          <p:nvPr/>
        </p:nvSpPr>
        <p:spPr>
          <a:xfrm>
            <a:off x="8715375" y="25431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Completion status and targets are visible beside each habit.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EE02A6F-4877-4E92-844C-D1746F81DC17}"/>
              </a:ext>
            </a:extLst>
          </p:cNvPr>
          <p:cNvSpPr>
            <a:spLocks noGrp="1"/>
          </p:cNvSpPr>
          <p:nvPr/>
        </p:nvSpPr>
        <p:spPr>
          <a:xfrm>
            <a:off x="8305800" y="3295650"/>
            <a:ext cx="285750" cy="285750"/>
          </a:xfrm>
          <a:prstGeom prst="ellipse">
            <a:avLst/>
          </a:prstGeom>
          <a:solidFill>
            <a:srgbClr val="F4EBDD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B5A546-F75E-4914-B482-239FC6A392EB}"/>
              </a:ext>
            </a:extLst>
          </p:cNvPr>
          <p:cNvSpPr>
            <a:spLocks noGrp="1"/>
          </p:cNvSpPr>
          <p:nvPr/>
        </p:nvSpPr>
        <p:spPr>
          <a:xfrm>
            <a:off x="8353425" y="33623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191C7C-4CCC-4F4E-AA98-A38115AF6823}"/>
              </a:ext>
            </a:extLst>
          </p:cNvPr>
          <p:cNvSpPr>
            <a:spLocks noGrp="1"/>
          </p:cNvSpPr>
          <p:nvPr/>
        </p:nvSpPr>
        <p:spPr>
          <a:xfrm>
            <a:off x="8715375" y="33051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Manage the routine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87F2EB-80F2-44EA-9D36-B41C2F4EEBED}"/>
              </a:ext>
            </a:extLst>
          </p:cNvPr>
          <p:cNvSpPr>
            <a:spLocks noGrp="1"/>
          </p:cNvSpPr>
          <p:nvPr/>
        </p:nvSpPr>
        <p:spPr>
          <a:xfrm>
            <a:off x="8715375" y="36099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Create, edit, archive, and delete habits from the interface.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42A2556-9328-4633-8B16-56F3D69E917E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285750" cy="285750"/>
          </a:xfrm>
          <a:prstGeom prst="ellipse">
            <a:avLst/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B2A3DF-42F5-47CF-A965-61BA49FA0C7B}"/>
              </a:ext>
            </a:extLst>
          </p:cNvPr>
          <p:cNvSpPr>
            <a:spLocks noGrp="1"/>
          </p:cNvSpPr>
          <p:nvPr/>
        </p:nvSpPr>
        <p:spPr>
          <a:xfrm>
            <a:off x="8353425" y="4429125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75" b="1" i="0">
                <a:solidFill>
                  <a:srgbClr val="39765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976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34F6353-B3A4-4D2A-9033-26AD5B5F8DCC}"/>
              </a:ext>
            </a:extLst>
          </p:cNvPr>
          <p:cNvSpPr>
            <a:spLocks noGrp="1"/>
          </p:cNvSpPr>
          <p:nvPr/>
        </p:nvSpPr>
        <p:spPr>
          <a:xfrm>
            <a:off x="8715375" y="43719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 i="0">
                <a:solidFill>
                  <a:srgbClr val="24352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52C"/>
                </a:solidFill>
                <a:latin typeface="Arial"/>
                <a:ea typeface="Arial"/>
                <a:cs typeface="Arial"/>
              </a:rPr>
              <a:t>Keep progress personal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CEEED8-4902-4A33-B760-3339734E6F60}"/>
              </a:ext>
            </a:extLst>
          </p:cNvPr>
          <p:cNvSpPr>
            <a:spLocks noGrp="1"/>
          </p:cNvSpPr>
          <p:nvPr/>
        </p:nvSpPr>
        <p:spPr>
          <a:xfrm>
            <a:off x="8715375" y="467677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 i="0">
                <a:solidFill>
                  <a:srgbClr val="6E7B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E7B72"/>
                </a:solidFill>
                <a:latin typeface="Arial"/>
                <a:ea typeface="Arial"/>
                <a:cs typeface="Arial"/>
              </a:rPr>
              <a:t>Sign-in and per-user records support private tracking.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7D7FBD-2F9B-416F-B393-C9958064F8F4}"/>
              </a:ext>
            </a:extLst>
          </p:cNvPr>
          <p:cNvSpPr>
            <a:spLocks noGrp="1"/>
          </p:cNvSpPr>
          <p:nvPr/>
        </p:nvSpPr>
        <p:spPr>
          <a:xfrm>
            <a:off x="8286750" y="5467350"/>
            <a:ext cx="3028950" cy="409575"/>
          </a:xfrm>
          <a:prstGeom prst="roundRect">
            <a:avLst>
              <a:gd name="adj" fmla="val 18605"/>
            </a:avLst>
          </a:prstGeom>
          <a:solidFill>
            <a:srgbClr val="EAF1E9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C479B1-935D-4310-A803-9E7A8FF8FFCC}"/>
              </a:ext>
            </a:extLst>
          </p:cNvPr>
          <p:cNvSpPr>
            <a:spLocks noGrp="1"/>
          </p:cNvSpPr>
          <p:nvPr/>
        </p:nvSpPr>
        <p:spPr>
          <a:xfrm>
            <a:off x="8439150" y="5591175"/>
            <a:ext cx="2724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12"/>
          </a:bodyPr>
          <a:lstStyle>
            <a:defPPr algn="l">
              <a:defRPr sz="9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416B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16B4C"/>
                </a:solidFill>
                <a:latin typeface="Arial"/>
                <a:ea typeface="Arial"/>
                <a:cs typeface="Arial"/>
              </a:rPr>
              <a:t>Practical benefit: less guesswork, more follow-through.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866A72-24EA-4325-8878-7723F276620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43B627-FDA2-45FA-8C72-671EDE738BB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8791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791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2775322-886F-957F-FB0B-0DE10EB56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4" y="1400080"/>
            <a:ext cx="8057381" cy="439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5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9F40A4F-7150-4D89-B861-4BA02ED6D0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C7B7"/>
                </a:solidFill>
                <a:latin typeface="Arial"/>
                <a:ea typeface="Arial"/>
                <a:cs typeface="Arial"/>
              </a:rPr>
              <a:t>07   /   FUTURE 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E9099-6913-4AC5-9347-864DA272A86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25" b="1" i="0">
                <a:solidFill>
                  <a:srgbClr val="E8EFE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 i="0">
                <a:solidFill>
                  <a:srgbClr val="E8EFE7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E8EFE7"/>
                </a:solidFill>
                <a:latin typeface="Arial"/>
                <a:ea typeface="Arial"/>
                <a:cs typeface="Arial"/>
              </a:rPr>
              <a:t>A stronger routine, one release at a time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17C72D3-48D2-4354-AE80-43600CE4437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"/>
          </a:xfrm>
          <a:prstGeom prst="line">
            <a:avLst/>
          </a:prstGeom>
          <a:noFill/>
          <a:ln w="9525">
            <a:solidFill>
              <a:srgbClr val="3C594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1C0B9-2C16-4259-895D-799F90CB647C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0" i="0">
                <a:solidFill>
                  <a:srgbClr val="B5C7B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5C7B7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40B4E-D377-4F64-8E6B-8E105ED108CE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FC8B1"/>
                </a:solidFill>
                <a:latin typeface="Arial"/>
                <a:ea typeface="Arial"/>
                <a:cs typeface="Arial"/>
              </a:rPr>
              <a:t>BUILT TODAY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34B4BB-5369-46CC-BE4F-21DB3DC6C0B2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F1EEE-4EAC-4716-9283-A4C7A043E197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MERN dashboard and REST API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B19F31-E4CF-4033-9A9E-49353F88D8F4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7D3BB-0EA8-4FBE-9A9F-E969AB0DDD16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 registration and sign-in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DC6CEB-D863-4A4A-ABF8-F52AAF011F5A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57EB7-6ED5-42D4-A8F6-C687827AA9C7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Habit and completion CRUD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5BDFFE-C855-4C92-AE0D-71211D04D7CD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76200" cy="76200"/>
          </a:xfrm>
          <a:prstGeom prst="ellipse">
            <a:avLst/>
          </a:prstGeom>
          <a:solidFill>
            <a:srgbClr val="E2BE7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32580-6A63-43AB-A94C-F90A3CA5D47F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 and account preferences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E2B75A4-C822-4C3F-8202-076049E7A93E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95" cy="3009900"/>
          </a:xfrm>
          <a:prstGeom prst="line">
            <a:avLst/>
          </a:prstGeom>
          <a:noFill/>
          <a:ln w="9525">
            <a:solidFill>
              <a:srgbClr val="42645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D8DBF5-1D6B-43D1-AC81-74699039C006}"/>
              </a:ext>
            </a:extLst>
          </p:cNvPr>
          <p:cNvSpPr>
            <a:spLocks noGrp="1"/>
          </p:cNvSpPr>
          <p:nvPr/>
        </p:nvSpPr>
        <p:spPr>
          <a:xfrm>
            <a:off x="5029200" y="1752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 i="0">
                <a:solidFill>
                  <a:srgbClr val="AFC8B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FC8B1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5BF7D-4748-4BFF-BE18-B05952A6A9CC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EFCDE-D32D-4C1B-85C4-436DCA74C178}"/>
              </a:ext>
            </a:extLst>
          </p:cNvPr>
          <p:cNvSpPr>
            <a:spLocks noGrp="1"/>
          </p:cNvSpPr>
          <p:nvPr/>
        </p:nvSpPr>
        <p:spPr>
          <a:xfrm>
            <a:off x="5467350" y="21526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complete streak and trend analytics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95529BC-8417-46F8-BA88-A8FCC5202AA7}"/>
              </a:ext>
            </a:extLst>
          </p:cNvPr>
          <p:cNvSpPr>
            <a:spLocks noGrp="1"/>
          </p:cNvSpPr>
          <p:nvPr/>
        </p:nvSpPr>
        <p:spPr>
          <a:xfrm>
            <a:off x="5467350" y="256222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63E0B5-8E43-4B17-B863-9D896B18C771}"/>
              </a:ext>
            </a:extLst>
          </p:cNvPr>
          <p:cNvSpPr>
            <a:spLocks noGrp="1"/>
          </p:cNvSpPr>
          <p:nvPr/>
        </p:nvSpPr>
        <p:spPr>
          <a:xfrm>
            <a:off x="5048250" y="27813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68A7A-D002-4542-8A94-2350E80D48E0}"/>
              </a:ext>
            </a:extLst>
          </p:cNvPr>
          <p:cNvSpPr>
            <a:spLocks noGrp="1"/>
          </p:cNvSpPr>
          <p:nvPr/>
        </p:nvSpPr>
        <p:spPr>
          <a:xfrm>
            <a:off x="5467350" y="27813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Scheduled reminders and weekly summaries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027B288-D030-43D0-B13D-DD889A5B5AE5}"/>
              </a:ext>
            </a:extLst>
          </p:cNvPr>
          <p:cNvSpPr>
            <a:spLocks noGrp="1"/>
          </p:cNvSpPr>
          <p:nvPr/>
        </p:nvSpPr>
        <p:spPr>
          <a:xfrm>
            <a:off x="5467350" y="319087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105AA6-8021-4116-B942-F2713142FC45}"/>
              </a:ext>
            </a:extLst>
          </p:cNvPr>
          <p:cNvSpPr>
            <a:spLocks noGrp="1"/>
          </p:cNvSpPr>
          <p:nvPr/>
        </p:nvSpPr>
        <p:spPr>
          <a:xfrm>
            <a:off x="5048250" y="34099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8B3094-F76F-4E57-907A-377AEDFE1D0B}"/>
              </a:ext>
            </a:extLst>
          </p:cNvPr>
          <p:cNvSpPr>
            <a:spLocks noGrp="1"/>
          </p:cNvSpPr>
          <p:nvPr/>
        </p:nvSpPr>
        <p:spPr>
          <a:xfrm>
            <a:off x="5467350" y="34099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deployment, backups, and monitoring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4FA7BED-7707-4586-88FB-623608B6CE2C}"/>
              </a:ext>
            </a:extLst>
          </p:cNvPr>
          <p:cNvSpPr>
            <a:spLocks noGrp="1"/>
          </p:cNvSpPr>
          <p:nvPr/>
        </p:nvSpPr>
        <p:spPr>
          <a:xfrm>
            <a:off x="5467350" y="3819525"/>
            <a:ext cx="5467350" cy="95"/>
          </a:xfrm>
          <a:prstGeom prst="line">
            <a:avLst/>
          </a:prstGeom>
          <a:noFill/>
          <a:ln w="9525">
            <a:solidFill>
              <a:srgbClr val="34574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44E725-B6F5-42BC-BFAD-ABFCF5F7D630}"/>
              </a:ext>
            </a:extLst>
          </p:cNvPr>
          <p:cNvSpPr>
            <a:spLocks noGrp="1"/>
          </p:cNvSpPr>
          <p:nvPr/>
        </p:nvSpPr>
        <p:spPr>
          <a:xfrm>
            <a:off x="5048250" y="403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2BA1D8-E437-447A-8480-1749FAACD217}"/>
              </a:ext>
            </a:extLst>
          </p:cNvPr>
          <p:cNvSpPr>
            <a:spLocks noGrp="1"/>
          </p:cNvSpPr>
          <p:nvPr/>
        </p:nvSpPr>
        <p:spPr>
          <a:xfrm>
            <a:off x="5467350" y="40386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challenges for groups or teams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B0A30E-5242-4252-83E3-CEB87961C3E4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838200"/>
          </a:xfrm>
          <a:prstGeom prst="roundRect">
            <a:avLst>
              <a:gd name="adj" fmla="val 15909"/>
            </a:avLst>
          </a:prstGeom>
          <a:solidFill>
            <a:srgbClr val="254B3A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801D69-B79C-4C10-A700-D5B207E4C1B1}"/>
              </a:ext>
            </a:extLst>
          </p:cNvPr>
          <p:cNvSpPr>
            <a:spLocks noGrp="1"/>
          </p:cNvSpPr>
          <p:nvPr/>
        </p:nvSpPr>
        <p:spPr>
          <a:xfrm>
            <a:off x="895350" y="5343525"/>
            <a:ext cx="771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 habits become meaningful when progress is easy to see.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41F4E0-D315-4E31-A811-B4736BC23CC2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457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B6CBB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1" i="0">
                <a:solidFill>
                  <a:srgbClr val="B6CBB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CBB8"/>
                </a:solidFill>
                <a:latin typeface="Arial"/>
                <a:ea typeface="Arial"/>
                <a:cs typeface="Arial"/>
              </a:rPr>
              <a:t>DAYLIGHT  ·  THANK YOU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31EB1B-94DB-4F1D-B3DD-13B2CAB49729}"/>
              </a:ext>
            </a:extLst>
          </p:cNvPr>
          <p:cNvSpPr>
            <a:spLocks noGrp="1"/>
          </p:cNvSpPr>
          <p:nvPr/>
        </p:nvSpPr>
        <p:spPr>
          <a:xfrm>
            <a:off x="9906000" y="542925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21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2100" b="1" i="0">
                <a:solidFill>
                  <a:srgbClr val="E2BE7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2BE79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4B665C-9166-4463-A9CA-FD47CF766C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FB5A2"/>
                </a:solidFill>
                <a:latin typeface="Arial"/>
                <a:ea typeface="Arial"/>
                <a:cs typeface="Arial"/>
              </a:rPr>
              <a:t>DAYLIGHT  •  HABIT TRACKING APPLICATION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2D6E58-3650-4D01-904E-E989539C772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750" b="1" i="0">
                <a:solidFill>
                  <a:srgbClr val="9FB5A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FB5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8275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1029</Words>
  <Application>Microsoft Office PowerPoint</Application>
  <DocSecurity>0</DocSecurity>
  <PresentationFormat>Widescreen</PresentationFormat>
  <Paragraphs>179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Ashwanth Ambati</cp:lastModifiedBy>
  <cp:revision>5</cp:revision>
  <dcterms:created xsi:type="dcterms:W3CDTF">2026-10-09T19:20:43Z</dcterms:created>
  <dcterms:modified xsi:type="dcterms:W3CDTF">2026-10-10T04:30:46Z</dcterms:modified>
</cp:coreProperties>
</file>