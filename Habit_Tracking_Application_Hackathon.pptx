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357" autoAdjust="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project addresses the gap between setting a goal and maintaining a routine. The challenge is to make repeated logging simple while preserving structured, date-based records for each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Daylight focuses on a low-friction daily loop: define a habit, log it, and see a compact view of progress. The visual tone is intentionally calm. The working project includes account authentication, habit CRUD endpoints, and date-based completion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client sends authenticated REST requests to Express. The backend validates each write, checks ownership, and stores a completion keyed by habit and date. The React view then refreshes its progress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dashboard computes a completion percentage by counting habits whose saved daily count meets the target. H is the number of active habits. MongoDB uses a unique compound index on habit and date, so a daily completion can be </a:t>
            </a:r>
            <a:r>
              <a:rPr dirty="0" err="1"/>
              <a:t>upserted</a:t>
            </a:r>
            <a:r>
              <a:rPr dirty="0"/>
              <a:t> rather than duplicated. B-tree lookup/update is expected O(log C), where C is the indexed completion collection size. The current API limits returned history to 500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2AE9154-3BAC-4103-81C1-BEAFAA58A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1318F42-D464-479D-B942-AA7B10685F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58CD7F7-DDA5-4057-9BF8-4475A4F2E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D9BD84A-B0B5-4341-B132-7257DFA16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45BAC58-D867-404C-988D-4C5E0DEEB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F111250-CEA7-4107-AEE5-EDC44BDFE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36B2E76-5BD9-4659-97FC-160108DFA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E379B190-2C29-41B4-8426-6D81F30AA9A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6ED59CD-B3C6-4018-B98D-0427818E9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410DB31-8617-4E51-80DE-C9823572D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>
            <a:extLst>
              <a:ext uri="{FF2B5EF4-FFF2-40B4-BE49-F238E27FC236}">
                <a16:creationId xmlns:a16="http://schemas.microsoft.com/office/drawing/2014/main" id="{C90C6716-2901-46BE-99E9-1513030CF0A6}"/>
              </a:ext>
            </a:extLst>
          </p:cNvPr>
          <p:cNvSpPr>
            <a:spLocks noGrp="1"/>
          </p:cNvSpPr>
          <p:nvPr/>
        </p:nvSpPr>
        <p:spPr>
          <a:xfrm>
            <a:off x="7924800" y="1990725"/>
            <a:ext cx="3619500" cy="3619500"/>
          </a:xfrm>
          <a:prstGeom prst="ellipse">
            <a:avLst/>
          </a:prstGeom>
          <a:solidFill>
            <a:srgbClr val="254B3A"/>
          </a:soli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D0D9B9D-E9BB-4F3D-B118-6027EEEE2751}"/>
              </a:ext>
            </a:extLst>
          </p:cNvPr>
          <p:cNvSpPr>
            <a:spLocks noGrp="1"/>
          </p:cNvSpPr>
          <p:nvPr/>
        </p:nvSpPr>
        <p:spPr>
          <a:xfrm>
            <a:off x="8629650" y="2695575"/>
            <a:ext cx="2209800" cy="2209800"/>
          </a:xfrm>
          <a:prstGeom prst="ellipse">
            <a:avLst/>
          </a:prstGeom>
          <a:solidFill>
            <a:srgbClr val="355D45"/>
          </a:solidFill>
          <a:ln w="0">
            <a:noFill/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6B2A776-12F6-43D0-BB33-1477C1C02FA2}"/>
              </a:ext>
            </a:extLst>
          </p:cNvPr>
          <p:cNvSpPr>
            <a:spLocks noGrp="1"/>
          </p:cNvSpPr>
          <p:nvPr/>
        </p:nvSpPr>
        <p:spPr>
          <a:xfrm>
            <a:off x="9258300" y="3343275"/>
            <a:ext cx="952500" cy="952500"/>
          </a:xfrm>
          <a:prstGeom prst="ellipse">
            <a:avLst/>
          </a:prstGeom>
          <a:solidFill>
            <a:srgbClr val="E2BE79"/>
          </a:solidFill>
          <a:ln w="0">
            <a:noFill/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B5D0B58-6D2B-43B3-A8F1-41D1EF02B3FA}"/>
              </a:ext>
            </a:extLst>
          </p:cNvPr>
          <p:cNvSpPr>
            <a:spLocks noGrp="1"/>
          </p:cNvSpPr>
          <p:nvPr/>
        </p:nvSpPr>
        <p:spPr>
          <a:xfrm>
            <a:off x="9742338" y="3598808"/>
            <a:ext cx="95" cy="638175"/>
          </a:xfrm>
          <a:prstGeom prst="line">
            <a:avLst/>
          </a:prstGeom>
          <a:noFill/>
          <a:ln w="38100">
            <a:solidFill>
              <a:srgbClr val="E9F0E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5E47F28-0F1B-46CB-96D3-49AF109D31F2}"/>
              </a:ext>
            </a:extLst>
          </p:cNvPr>
          <p:cNvSpPr>
            <a:spLocks noGrp="1"/>
          </p:cNvSpPr>
          <p:nvPr/>
        </p:nvSpPr>
        <p:spPr>
          <a:xfrm>
            <a:off x="9370863" y="3736757"/>
            <a:ext cx="371475" cy="190500"/>
          </a:xfrm>
          <a:prstGeom prst="ellipse">
            <a:avLst/>
          </a:prstGeom>
          <a:solidFill>
            <a:srgbClr val="9FBE9B"/>
          </a:solidFill>
          <a:ln w="0">
            <a:noFill/>
            <a:prstDash val="solid"/>
          </a:ln>
        </p:spPr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725F508-4914-4C1B-9637-4230BE8E00B5}"/>
              </a:ext>
            </a:extLst>
          </p:cNvPr>
          <p:cNvSpPr>
            <a:spLocks noGrp="1"/>
          </p:cNvSpPr>
          <p:nvPr/>
        </p:nvSpPr>
        <p:spPr>
          <a:xfrm>
            <a:off x="9672344" y="3540016"/>
            <a:ext cx="361950" cy="190500"/>
          </a:xfrm>
          <a:prstGeom prst="ellipse">
            <a:avLst/>
          </a:prstGeom>
          <a:solidFill>
            <a:srgbClr val="B5CAA6"/>
          </a:solidFill>
          <a:ln w="0">
            <a:noFill/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3D92281-99AB-445E-9BF6-2B1AA2B17C9B}"/>
              </a:ext>
            </a:extLst>
          </p:cNvPr>
          <p:cNvSpPr>
            <a:spLocks noGrp="1"/>
          </p:cNvSpPr>
          <p:nvPr/>
        </p:nvSpPr>
        <p:spPr>
          <a:xfrm>
            <a:off x="9701869" y="3895889"/>
            <a:ext cx="361950" cy="190500"/>
          </a:xfrm>
          <a:prstGeom prst="ellipse">
            <a:avLst/>
          </a:prstGeom>
          <a:solidFill>
            <a:srgbClr val="89AB88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034ADB-5238-41AC-8E44-0F6A57E950D3}"/>
              </a:ext>
            </a:extLst>
          </p:cNvPr>
          <p:cNvSpPr>
            <a:spLocks noGrp="1"/>
          </p:cNvSpPr>
          <p:nvPr/>
        </p:nvSpPr>
        <p:spPr>
          <a:xfrm>
            <a:off x="685800" y="3081830"/>
            <a:ext cx="6667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DAYLIGHT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5DB0A1-12E8-42E9-8229-16925F280C9E}"/>
              </a:ext>
            </a:extLst>
          </p:cNvPr>
          <p:cNvSpPr>
            <a:spLocks noGrp="1"/>
          </p:cNvSpPr>
          <p:nvPr/>
        </p:nvSpPr>
        <p:spPr>
          <a:xfrm>
            <a:off x="719138" y="3873390"/>
            <a:ext cx="666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0" i="0">
                <a:solidFill>
                  <a:srgbClr val="D8E7D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75" b="0" i="0">
                <a:solidFill>
                  <a:srgbClr val="D8E7D6"/>
                </a:solidFill>
                <a:latin typeface="Arial"/>
                <a:ea typeface="Arial"/>
                <a:cs typeface="Arial"/>
              </a:defRPr>
            </a:pPr>
            <a:r>
              <a:rPr sz="2475" b="0" i="0" dirty="0">
                <a:solidFill>
                  <a:srgbClr val="D8E7D6"/>
                </a:solidFill>
                <a:latin typeface="Arial"/>
                <a:ea typeface="Arial"/>
                <a:cs typeface="Arial"/>
              </a:rPr>
              <a:t>Habit Tracking Application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BE1318-4063-4295-A7A4-D48651687247}"/>
              </a:ext>
            </a:extLst>
          </p:cNvPr>
          <p:cNvSpPr>
            <a:spLocks noGrp="1"/>
          </p:cNvSpPr>
          <p:nvPr/>
        </p:nvSpPr>
        <p:spPr>
          <a:xfrm>
            <a:off x="714375" y="3800475"/>
            <a:ext cx="619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 i="0">
                <a:solidFill>
                  <a:srgbClr val="C1D1C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 i="0">
                <a:solidFill>
                  <a:srgbClr val="C1D1C2"/>
                </a:solidFill>
                <a:latin typeface="Arial"/>
                <a:ea typeface="Arial"/>
                <a:cs typeface="Arial"/>
              </a:defRPr>
            </a:pPr>
            <a:endParaRPr sz="1800" b="0" i="0" dirty="0">
              <a:solidFill>
                <a:srgbClr val="C1D1C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09EDBC-3F0E-4BF6-A1AE-D0FE5FDB4AF5}"/>
              </a:ext>
            </a:extLst>
          </p:cNvPr>
          <p:cNvSpPr>
            <a:spLocks noGrp="1"/>
          </p:cNvSpPr>
          <p:nvPr/>
        </p:nvSpPr>
        <p:spPr>
          <a:xfrm>
            <a:off x="704850" y="4448175"/>
            <a:ext cx="4667250" cy="9525"/>
          </a:xfrm>
          <a:prstGeom prst="rect">
            <a:avLst/>
          </a:prstGeom>
          <a:solidFill>
            <a:srgbClr val="426452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72FAC0-51A8-445B-8E60-02DCEE36EBA8}"/>
              </a:ext>
            </a:extLst>
          </p:cNvPr>
          <p:cNvSpPr>
            <a:spLocks noGrp="1"/>
          </p:cNvSpPr>
          <p:nvPr/>
        </p:nvSpPr>
        <p:spPr>
          <a:xfrm>
            <a:off x="1095375" y="4581525"/>
            <a:ext cx="5429250" cy="1304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 i="0">
                <a:solidFill>
                  <a:srgbClr val="D9E5D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1" i="0">
                <a:solidFill>
                  <a:srgbClr val="D9E5D8"/>
                </a:solidFill>
                <a:latin typeface="Arial"/>
                <a:ea typeface="Arial"/>
                <a:cs typeface="Arial"/>
              </a:defRPr>
            </a:pPr>
            <a:r>
              <a:rPr sz="1400" b="1" i="0" dirty="0">
                <a:solidFill>
                  <a:srgbClr val="D9E5D8"/>
                </a:solidFill>
                <a:latin typeface="Arial"/>
                <a:ea typeface="Arial"/>
                <a:cs typeface="Arial"/>
              </a:rPr>
              <a:t>TEAM MEMBERS  </a:t>
            </a:r>
            <a:r>
              <a:rPr lang="en-US" sz="1400" b="1" dirty="0">
                <a:solidFill>
                  <a:srgbClr val="D9E5D8"/>
                </a:solidFill>
                <a:latin typeface="Arial"/>
                <a:ea typeface="Arial"/>
                <a:cs typeface="Arial"/>
              </a:rPr>
              <a:t>:</a:t>
            </a:r>
          </a:p>
          <a:p>
            <a:pPr algn="l">
              <a:defRPr sz="1125" b="1" i="0">
                <a:solidFill>
                  <a:srgbClr val="D9E5D8"/>
                </a:solidFill>
                <a:latin typeface="Arial"/>
                <a:ea typeface="Arial"/>
                <a:cs typeface="Arial"/>
              </a:defRPr>
            </a:pPr>
            <a:r>
              <a:rPr lang="en-US" sz="1400" b="1" i="0" dirty="0">
                <a:solidFill>
                  <a:srgbClr val="D9E5D8"/>
                </a:solidFill>
                <a:latin typeface="Arial"/>
                <a:ea typeface="Arial"/>
                <a:cs typeface="Arial"/>
              </a:rPr>
              <a:t>25MVCSMR0022-CHETTE VAISHNAVI</a:t>
            </a:r>
          </a:p>
          <a:p>
            <a:pPr algn="l">
              <a:defRPr sz="1125" b="1" i="0">
                <a:solidFill>
                  <a:srgbClr val="D9E5D8"/>
                </a:solidFill>
                <a:latin typeface="Arial"/>
                <a:ea typeface="Arial"/>
                <a:cs typeface="Arial"/>
              </a:defRPr>
            </a:pPr>
            <a:r>
              <a:rPr lang="en-US" sz="1400" b="1" dirty="0">
                <a:solidFill>
                  <a:srgbClr val="D9E5D8"/>
                </a:solidFill>
                <a:latin typeface="Arial"/>
                <a:ea typeface="Arial"/>
                <a:cs typeface="Arial"/>
              </a:rPr>
              <a:t>25MVCSMR0009-B.ANJALI</a:t>
            </a:r>
          </a:p>
          <a:p>
            <a:pPr algn="l">
              <a:defRPr sz="1125" b="1" i="0">
                <a:solidFill>
                  <a:srgbClr val="D9E5D8"/>
                </a:solidFill>
                <a:latin typeface="Arial"/>
                <a:ea typeface="Arial"/>
                <a:cs typeface="Arial"/>
              </a:defRPr>
            </a:pPr>
            <a:r>
              <a:rPr lang="en-US" sz="1400" b="1" i="0" dirty="0">
                <a:solidFill>
                  <a:srgbClr val="D9E5D8"/>
                </a:solidFill>
                <a:latin typeface="Arial"/>
                <a:ea typeface="Arial"/>
                <a:cs typeface="Arial"/>
              </a:rPr>
              <a:t>25MVCSMR0078-S.BHARGAVI</a:t>
            </a:r>
          </a:p>
          <a:p>
            <a:pPr algn="l">
              <a:defRPr sz="1125" b="1" i="0">
                <a:solidFill>
                  <a:srgbClr val="D9E5D8"/>
                </a:solidFill>
                <a:latin typeface="Arial"/>
                <a:ea typeface="Arial"/>
                <a:cs typeface="Arial"/>
              </a:defRPr>
            </a:pPr>
            <a:r>
              <a:rPr lang="en-US" sz="1400" b="1" dirty="0">
                <a:solidFill>
                  <a:srgbClr val="D9E5D8"/>
                </a:solidFill>
                <a:latin typeface="Arial"/>
                <a:ea typeface="Arial"/>
                <a:cs typeface="Arial"/>
              </a:rPr>
              <a:t>25MVCSMR0061-METTU THARANYA</a:t>
            </a:r>
            <a:endParaRPr sz="1400" b="1" i="0" dirty="0">
              <a:solidFill>
                <a:srgbClr val="D9E5D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F512B0-EFE2-47A0-ACF5-4D4DA8D9226E}"/>
              </a:ext>
            </a:extLst>
          </p:cNvPr>
          <p:cNvSpPr>
            <a:spLocks noGrp="1"/>
          </p:cNvSpPr>
          <p:nvPr/>
        </p:nvSpPr>
        <p:spPr>
          <a:xfrm>
            <a:off x="666750" y="6019800"/>
            <a:ext cx="542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 i="0">
                <a:solidFill>
                  <a:srgbClr val="B8CBB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 i="0">
                <a:solidFill>
                  <a:srgbClr val="B8CBBB"/>
                </a:solidFill>
                <a:latin typeface="Arial"/>
                <a:ea typeface="Arial"/>
                <a:cs typeface="Arial"/>
              </a:defRPr>
            </a:pPr>
            <a:r>
              <a:rPr sz="1125" b="0" i="0" dirty="0">
                <a:solidFill>
                  <a:srgbClr val="B8CBBB"/>
                </a:solidFill>
                <a:latin typeface="Arial"/>
                <a:ea typeface="Arial"/>
                <a:cs typeface="Arial"/>
              </a:rPr>
              <a:t>DOMAIN  Personal productivity · Wellness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3DBB72-362C-4D13-8A99-361FE7BAA350}"/>
              </a:ext>
            </a:extLst>
          </p:cNvPr>
          <p:cNvSpPr>
            <a:spLocks noGrp="1"/>
          </p:cNvSpPr>
          <p:nvPr/>
        </p:nvSpPr>
        <p:spPr>
          <a:xfrm>
            <a:off x="704850" y="6248400"/>
            <a:ext cx="514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1" i="0">
                <a:solidFill>
                  <a:srgbClr val="A1BCA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25" b="1" i="0">
                <a:solidFill>
                  <a:srgbClr val="A1BCA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1BCA6"/>
                </a:solidFill>
                <a:latin typeface="Arial"/>
                <a:ea typeface="Arial"/>
                <a:cs typeface="Arial"/>
              </a:rPr>
              <a:t>MERN STACK  ·  HABITS  ·  PROGRESS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0D3664-229B-4A80-B58C-59B1CE4622B8}"/>
              </a:ext>
            </a:extLst>
          </p:cNvPr>
          <p:cNvSpPr>
            <a:spLocks noGrp="1"/>
          </p:cNvSpPr>
          <p:nvPr/>
        </p:nvSpPr>
        <p:spPr>
          <a:xfrm>
            <a:off x="10858500" y="6248400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825" b="0" i="0">
                <a:solidFill>
                  <a:srgbClr val="A1BCA6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825" b="0" i="0">
                <a:solidFill>
                  <a:srgbClr val="A1BCA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A1BCA6"/>
                </a:solidFill>
                <a:latin typeface="Arial"/>
                <a:ea typeface="Arial"/>
                <a:cs typeface="Arial"/>
              </a:rPr>
              <a:t>01 / 07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F520D74-92CD-669B-E975-62C09D27DE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7001" b="12646"/>
          <a:stretch/>
        </p:blipFill>
        <p:spPr>
          <a:xfrm>
            <a:off x="0" y="-177290"/>
            <a:ext cx="12192000" cy="181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525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F1C5CF49-C0DC-4067-8AFF-FF8EB4AEFD80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02   /   THE CHALLENGE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926897-A609-495C-A632-D98165B33489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9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9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Good intentions are easy. Consistency is hard.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B5DA5292-AB8A-4EC2-B2CC-678E2374165D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95"/>
          </a:xfrm>
          <a:prstGeom prst="line">
            <a:avLst/>
          </a:prstGeom>
          <a:noFill/>
          <a:ln w="9525">
            <a:solidFill>
              <a:srgbClr val="DDE3DA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FCC1E7-253C-4751-805F-B3D52FBC7A87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2 / 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34C036-4C0D-4B81-8A17-8D4C1C891BC2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5429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>
            <a:defPPr algn="l">
              <a:defRPr sz="1800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People want healthier routines, but everyday progress is easy to lose track of.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CA913B-C426-4FA4-918E-3EFBE3FB4CE5}"/>
              </a:ext>
            </a:extLst>
          </p:cNvPr>
          <p:cNvSpPr>
            <a:spLocks noGrp="1"/>
          </p:cNvSpPr>
          <p:nvPr/>
        </p:nvSpPr>
        <p:spPr>
          <a:xfrm>
            <a:off x="609600" y="2505075"/>
            <a:ext cx="4905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When habits live in memory or scattered notes, it is difficult to see patterns, keep targets, or know whether a routine is working.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CCE118B-6E00-4170-AD7A-1D5CB05307F8}"/>
              </a:ext>
            </a:extLst>
          </p:cNvPr>
          <p:cNvSpPr>
            <a:spLocks noGrp="1"/>
          </p:cNvSpPr>
          <p:nvPr/>
        </p:nvSpPr>
        <p:spPr>
          <a:xfrm>
            <a:off x="6438900" y="1800225"/>
            <a:ext cx="476250" cy="476250"/>
          </a:xfrm>
          <a:prstGeom prst="ellipse">
            <a:avLst/>
          </a:prstGeom>
          <a:solidFill>
            <a:srgbClr val="EAF1E9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DA3091-6AE3-4278-958E-CC121A7C62E0}"/>
              </a:ext>
            </a:extLst>
          </p:cNvPr>
          <p:cNvSpPr>
            <a:spLocks noGrp="1"/>
          </p:cNvSpPr>
          <p:nvPr/>
        </p:nvSpPr>
        <p:spPr>
          <a:xfrm>
            <a:off x="6562725" y="18859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350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50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34313F-C18C-4D0C-9AEB-089773F50C8B}"/>
              </a:ext>
            </a:extLst>
          </p:cNvPr>
          <p:cNvSpPr>
            <a:spLocks noGrp="1"/>
          </p:cNvSpPr>
          <p:nvPr/>
        </p:nvSpPr>
        <p:spPr>
          <a:xfrm>
            <a:off x="6419850" y="2447925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EFB0DE-8ABC-4C2B-8310-4EA8CDFB4796}"/>
              </a:ext>
            </a:extLst>
          </p:cNvPr>
          <p:cNvSpPr>
            <a:spLocks noGrp="1"/>
          </p:cNvSpPr>
          <p:nvPr/>
        </p:nvSpPr>
        <p:spPr>
          <a:xfrm>
            <a:off x="6419850" y="2733675"/>
            <a:ext cx="1476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Choose a realistic habit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249425DD-F9A8-4552-B7AD-C74A3138D02D}"/>
              </a:ext>
            </a:extLst>
          </p:cNvPr>
          <p:cNvSpPr>
            <a:spLocks noGrp="1"/>
          </p:cNvSpPr>
          <p:nvPr/>
        </p:nvSpPr>
        <p:spPr>
          <a:xfrm>
            <a:off x="7105650" y="2038350"/>
            <a:ext cx="876300" cy="95"/>
          </a:xfrm>
          <a:prstGeom prst="line">
            <a:avLst/>
          </a:prstGeom>
          <a:noFill/>
          <a:ln w="19050">
            <a:solidFill>
              <a:srgbClr val="BCCBBC"/>
            </a:solidFill>
            <a:prstDash val="solid"/>
          </a:ln>
        </p:spPr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DA1FF59A-6369-41EB-972B-3AE99EFCB379}"/>
              </a:ext>
            </a:extLst>
          </p:cNvPr>
          <p:cNvSpPr>
            <a:spLocks noGrp="1"/>
          </p:cNvSpPr>
          <p:nvPr/>
        </p:nvSpPr>
        <p:spPr>
          <a:xfrm>
            <a:off x="7934325" y="1981200"/>
            <a:ext cx="114300" cy="114300"/>
          </a:xfrm>
          <a:prstGeom prst="triangle">
            <a:avLst/>
          </a:prstGeom>
          <a:solidFill>
            <a:srgbClr val="BCCBBC"/>
          </a:solidFill>
          <a:ln w="0">
            <a:noFill/>
            <a:prstDash val="solid"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85BE1CB-97B4-444F-93AB-060A9CBB7C99}"/>
              </a:ext>
            </a:extLst>
          </p:cNvPr>
          <p:cNvSpPr>
            <a:spLocks noGrp="1"/>
          </p:cNvSpPr>
          <p:nvPr/>
        </p:nvSpPr>
        <p:spPr>
          <a:xfrm>
            <a:off x="8172450" y="1800225"/>
            <a:ext cx="476250" cy="476250"/>
          </a:xfrm>
          <a:prstGeom prst="ellipse">
            <a:avLst/>
          </a:prstGeom>
          <a:solidFill>
            <a:srgbClr val="F6EBD9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48735E-5B40-4615-8B7A-4CEB4F81D9EF}"/>
              </a:ext>
            </a:extLst>
          </p:cNvPr>
          <p:cNvSpPr>
            <a:spLocks noGrp="1"/>
          </p:cNvSpPr>
          <p:nvPr/>
        </p:nvSpPr>
        <p:spPr>
          <a:xfrm>
            <a:off x="8296275" y="18859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350" b="1" i="0">
                <a:solidFill>
                  <a:srgbClr val="9C794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50" b="1" i="0">
                <a:solidFill>
                  <a:srgbClr val="9C794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9C794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24B472-C5BD-4E2A-967E-9742D899DFA1}"/>
              </a:ext>
            </a:extLst>
          </p:cNvPr>
          <p:cNvSpPr>
            <a:spLocks noGrp="1"/>
          </p:cNvSpPr>
          <p:nvPr/>
        </p:nvSpPr>
        <p:spPr>
          <a:xfrm>
            <a:off x="8153400" y="2447925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STICK WITH 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B62AB5-D783-4ACC-9ED5-AFFD7CB252CA}"/>
              </a:ext>
            </a:extLst>
          </p:cNvPr>
          <p:cNvSpPr>
            <a:spLocks noGrp="1"/>
          </p:cNvSpPr>
          <p:nvPr/>
        </p:nvSpPr>
        <p:spPr>
          <a:xfrm>
            <a:off x="8153400" y="2733675"/>
            <a:ext cx="1476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Record it day by day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B3080570-F4C2-4CD6-9F74-E0D5265A4EC7}"/>
              </a:ext>
            </a:extLst>
          </p:cNvPr>
          <p:cNvSpPr>
            <a:spLocks noGrp="1"/>
          </p:cNvSpPr>
          <p:nvPr/>
        </p:nvSpPr>
        <p:spPr>
          <a:xfrm>
            <a:off x="8839200" y="2038350"/>
            <a:ext cx="876300" cy="95"/>
          </a:xfrm>
          <a:prstGeom prst="line">
            <a:avLst/>
          </a:prstGeom>
          <a:noFill/>
          <a:ln w="19050">
            <a:solidFill>
              <a:srgbClr val="BCCBBC"/>
            </a:solidFill>
            <a:prstDash val="solid"/>
          </a:ln>
        </p:spPr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2E44EAE5-0E55-4895-AFBF-E4F392F1E7A6}"/>
              </a:ext>
            </a:extLst>
          </p:cNvPr>
          <p:cNvSpPr>
            <a:spLocks noGrp="1"/>
          </p:cNvSpPr>
          <p:nvPr/>
        </p:nvSpPr>
        <p:spPr>
          <a:xfrm>
            <a:off x="9667875" y="1981200"/>
            <a:ext cx="114300" cy="114300"/>
          </a:xfrm>
          <a:prstGeom prst="triangle">
            <a:avLst/>
          </a:prstGeom>
          <a:solidFill>
            <a:srgbClr val="BCCBBC"/>
          </a:solidFill>
          <a:ln w="0">
            <a:noFill/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E4FE6EC-E5C9-43DF-80DB-EC41E45E3E2D}"/>
              </a:ext>
            </a:extLst>
          </p:cNvPr>
          <p:cNvSpPr>
            <a:spLocks noGrp="1"/>
          </p:cNvSpPr>
          <p:nvPr/>
        </p:nvSpPr>
        <p:spPr>
          <a:xfrm>
            <a:off x="9906000" y="1800225"/>
            <a:ext cx="476250" cy="476250"/>
          </a:xfrm>
          <a:prstGeom prst="ellipse">
            <a:avLst/>
          </a:prstGeom>
          <a:solidFill>
            <a:srgbClr val="ECEAF3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F3D932-F422-4A75-96A2-8C082960A922}"/>
              </a:ext>
            </a:extLst>
          </p:cNvPr>
          <p:cNvSpPr>
            <a:spLocks noGrp="1"/>
          </p:cNvSpPr>
          <p:nvPr/>
        </p:nvSpPr>
        <p:spPr>
          <a:xfrm>
            <a:off x="10029825" y="18859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350" b="1" i="0">
                <a:solidFill>
                  <a:srgbClr val="83799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50" b="1" i="0">
                <a:solidFill>
                  <a:srgbClr val="83799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83799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CB0162-C98A-44D2-9A8A-B286902E416D}"/>
              </a:ext>
            </a:extLst>
          </p:cNvPr>
          <p:cNvSpPr>
            <a:spLocks noGrp="1"/>
          </p:cNvSpPr>
          <p:nvPr/>
        </p:nvSpPr>
        <p:spPr>
          <a:xfrm>
            <a:off x="9886950" y="2447925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SEE PROGRESS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203BD8-B333-49A7-9221-11484E9BF05A}"/>
              </a:ext>
            </a:extLst>
          </p:cNvPr>
          <p:cNvSpPr>
            <a:spLocks noGrp="1"/>
          </p:cNvSpPr>
          <p:nvPr/>
        </p:nvSpPr>
        <p:spPr>
          <a:xfrm>
            <a:off x="9886950" y="2733675"/>
            <a:ext cx="1476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Review completion over time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C6033CFC-0DE6-444B-978B-322F65133C8C}"/>
              </a:ext>
            </a:extLst>
          </p:cNvPr>
          <p:cNvSpPr>
            <a:spLocks noGrp="1"/>
          </p:cNvSpPr>
          <p:nvPr/>
        </p:nvSpPr>
        <p:spPr>
          <a:xfrm>
            <a:off x="609600" y="3743325"/>
            <a:ext cx="10972800" cy="95"/>
          </a:xfrm>
          <a:prstGeom prst="line">
            <a:avLst/>
          </a:prstGeom>
          <a:noFill/>
          <a:ln w="9525">
            <a:solidFill>
              <a:srgbClr val="DDE3DA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3DE656-B856-4C4B-A651-002F78FC3272}"/>
              </a:ext>
            </a:extLst>
          </p:cNvPr>
          <p:cNvSpPr>
            <a:spLocks noGrp="1"/>
          </p:cNvSpPr>
          <p:nvPr/>
        </p:nvSpPr>
        <p:spPr>
          <a:xfrm>
            <a:off x="609600" y="4048125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E2C8E0-AD2E-449B-8CFF-8FA379E0C4E2}"/>
              </a:ext>
            </a:extLst>
          </p:cNvPr>
          <p:cNvSpPr>
            <a:spLocks noGrp="1"/>
          </p:cNvSpPr>
          <p:nvPr/>
        </p:nvSpPr>
        <p:spPr>
          <a:xfrm>
            <a:off x="609600" y="4429125"/>
            <a:ext cx="333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Small repeated actions shape long-term wellbeing.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938386-82D7-41DD-BBFC-F85BAD576348}"/>
              </a:ext>
            </a:extLst>
          </p:cNvPr>
          <p:cNvSpPr>
            <a:spLocks noGrp="1"/>
          </p:cNvSpPr>
          <p:nvPr/>
        </p:nvSpPr>
        <p:spPr>
          <a:xfrm>
            <a:off x="4267200" y="4048125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REAL-WORLD CHALLENGE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E26EB5-1F2C-4E68-8D5B-E9FF6E0ED23B}"/>
              </a:ext>
            </a:extLst>
          </p:cNvPr>
          <p:cNvSpPr>
            <a:spLocks noGrp="1"/>
          </p:cNvSpPr>
          <p:nvPr/>
        </p:nvSpPr>
        <p:spPr>
          <a:xfrm>
            <a:off x="4267200" y="4429125"/>
            <a:ext cx="3143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A useful tracker must make daily logging quick and progress easy to understand.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291E5F1-9278-426E-BBB2-088055F95CA2}"/>
              </a:ext>
            </a:extLst>
          </p:cNvPr>
          <p:cNvSpPr>
            <a:spLocks noGrp="1"/>
          </p:cNvSpPr>
          <p:nvPr/>
        </p:nvSpPr>
        <p:spPr>
          <a:xfrm>
            <a:off x="7924800" y="4048125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BUILD CHALLENGES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BCC136-4C7D-4BF9-8901-3F7171B31434}"/>
              </a:ext>
            </a:extLst>
          </p:cNvPr>
          <p:cNvSpPr>
            <a:spLocks noGrp="1"/>
          </p:cNvSpPr>
          <p:nvPr/>
        </p:nvSpPr>
        <p:spPr>
          <a:xfrm>
            <a:off x="7924800" y="4429125"/>
            <a:ext cx="3333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Model habits, targets, dates, and completion reliably; protect each user’s records; keep the interface simple.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8DE3F08-6F82-4127-9132-2CBCBBCD511B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5715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79187"/>
                </a:solidFill>
                <a:latin typeface="Arial"/>
                <a:ea typeface="Arial"/>
                <a:cs typeface="Arial"/>
              </a:rPr>
              <a:t>DAYLIGHT  •  HABIT TRACKING APPLICATION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9832AA5-E245-4649-AEC7-A5091B8C6D97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7918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98254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1115D044-9CB7-4A5F-A65F-B8C79B59680D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03   /   OUR INNOVATION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869094-AD67-4C97-9EB6-032E605B34E8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9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9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A calm, clear view of daily progress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401FB0E-69D2-40FA-A7EA-E124AEB8F0AC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95"/>
          </a:xfrm>
          <a:prstGeom prst="line">
            <a:avLst/>
          </a:prstGeom>
          <a:noFill/>
          <a:ln w="9525">
            <a:solidFill>
              <a:srgbClr val="DDE3DA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FA206E-CED6-4253-8478-1C1C312FCD2B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3 / 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DCAEA3-6F26-463F-AEC1-31F8B71D5638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40957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One place to set a habit,</a:t>
            </a:r>
          </a:p>
          <a:p>
            <a:pPr algn="l">
              <a:defRPr sz="23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check in, and reflect.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5FBBB6-DF98-40D3-8236-9AB589370339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Daylight combines an approachable daily dashboard with structured habit records and account-based history.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BCA9D32-0362-4580-8EA0-ACD74653FF49}"/>
              </a:ext>
            </a:extLst>
          </p:cNvPr>
          <p:cNvSpPr>
            <a:spLocks noGrp="1"/>
          </p:cNvSpPr>
          <p:nvPr/>
        </p:nvSpPr>
        <p:spPr>
          <a:xfrm>
            <a:off x="5114925" y="1838325"/>
            <a:ext cx="323850" cy="323850"/>
          </a:xfrm>
          <a:prstGeom prst="ellipse">
            <a:avLst/>
          </a:prstGeom>
          <a:solidFill>
            <a:srgbClr val="EAF1E9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CDB231-5E70-4A2D-9E7E-B378349C7DF5}"/>
              </a:ext>
            </a:extLst>
          </p:cNvPr>
          <p:cNvSpPr>
            <a:spLocks noGrp="1"/>
          </p:cNvSpPr>
          <p:nvPr/>
        </p:nvSpPr>
        <p:spPr>
          <a:xfrm>
            <a:off x="5153025" y="1895475"/>
            <a:ext cx="247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82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82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48EED3-16D5-4F8C-8CCE-693C98CB7D20}"/>
              </a:ext>
            </a:extLst>
          </p:cNvPr>
          <p:cNvSpPr>
            <a:spLocks noGrp="1"/>
          </p:cNvSpPr>
          <p:nvPr/>
        </p:nvSpPr>
        <p:spPr>
          <a:xfrm>
            <a:off x="5619750" y="1847850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Flexible routines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3F36E9-F0CF-484A-BEBC-6608516DAE71}"/>
              </a:ext>
            </a:extLst>
          </p:cNvPr>
          <p:cNvSpPr>
            <a:spLocks noGrp="1"/>
          </p:cNvSpPr>
          <p:nvPr/>
        </p:nvSpPr>
        <p:spPr>
          <a:xfrm>
            <a:off x="5619750" y="2181225"/>
            <a:ext cx="561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Create habits by category, target, unit, and frequency.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D19C1A3F-4C86-4CE3-A96E-39AD8B53BF3A}"/>
              </a:ext>
            </a:extLst>
          </p:cNvPr>
          <p:cNvSpPr>
            <a:spLocks noGrp="1"/>
          </p:cNvSpPr>
          <p:nvPr/>
        </p:nvSpPr>
        <p:spPr>
          <a:xfrm>
            <a:off x="5619750" y="2647950"/>
            <a:ext cx="5543550" cy="95"/>
          </a:xfrm>
          <a:prstGeom prst="line">
            <a:avLst/>
          </a:prstGeom>
          <a:noFill/>
          <a:ln w="9525">
            <a:solidFill>
              <a:srgbClr val="E8ECE6"/>
            </a:solidFill>
            <a:prstDash val="solid"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E6CC1B4-8E66-4F8F-95A3-929D40F53DBE}"/>
              </a:ext>
            </a:extLst>
          </p:cNvPr>
          <p:cNvSpPr>
            <a:spLocks noGrp="1"/>
          </p:cNvSpPr>
          <p:nvPr/>
        </p:nvSpPr>
        <p:spPr>
          <a:xfrm>
            <a:off x="5114925" y="2838450"/>
            <a:ext cx="323850" cy="323850"/>
          </a:xfrm>
          <a:prstGeom prst="ellipse">
            <a:avLst/>
          </a:prstGeom>
          <a:solidFill>
            <a:srgbClr val="F0F3ED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F9DFD0-41AB-43BB-AE57-F6A79B6409C2}"/>
              </a:ext>
            </a:extLst>
          </p:cNvPr>
          <p:cNvSpPr>
            <a:spLocks noGrp="1"/>
          </p:cNvSpPr>
          <p:nvPr/>
        </p:nvSpPr>
        <p:spPr>
          <a:xfrm>
            <a:off x="5153025" y="2895600"/>
            <a:ext cx="247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82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82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7EEB4E-C672-447C-B5CD-3DE696C0D380}"/>
              </a:ext>
            </a:extLst>
          </p:cNvPr>
          <p:cNvSpPr>
            <a:spLocks noGrp="1"/>
          </p:cNvSpPr>
          <p:nvPr/>
        </p:nvSpPr>
        <p:spPr>
          <a:xfrm>
            <a:off x="5619750" y="2847975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Fast daily check-in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A97DA4-52E3-4D8E-91AF-9D1D246175EC}"/>
              </a:ext>
            </a:extLst>
          </p:cNvPr>
          <p:cNvSpPr>
            <a:spLocks noGrp="1"/>
          </p:cNvSpPr>
          <p:nvPr/>
        </p:nvSpPr>
        <p:spPr>
          <a:xfrm>
            <a:off x="5619750" y="3181350"/>
            <a:ext cx="561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Mark today complete with a single action.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7A353FCE-932A-4EAE-A0D3-5B32990AABC1}"/>
              </a:ext>
            </a:extLst>
          </p:cNvPr>
          <p:cNvSpPr>
            <a:spLocks noGrp="1"/>
          </p:cNvSpPr>
          <p:nvPr/>
        </p:nvSpPr>
        <p:spPr>
          <a:xfrm>
            <a:off x="5619750" y="3648075"/>
            <a:ext cx="5543550" cy="95"/>
          </a:xfrm>
          <a:prstGeom prst="line">
            <a:avLst/>
          </a:prstGeom>
          <a:noFill/>
          <a:ln w="9525">
            <a:solidFill>
              <a:srgbClr val="E8ECE6"/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E623FCF-20B1-4584-A393-9F395D7DE99B}"/>
              </a:ext>
            </a:extLst>
          </p:cNvPr>
          <p:cNvSpPr>
            <a:spLocks noGrp="1"/>
          </p:cNvSpPr>
          <p:nvPr/>
        </p:nvSpPr>
        <p:spPr>
          <a:xfrm>
            <a:off x="5114925" y="3838575"/>
            <a:ext cx="323850" cy="323850"/>
          </a:xfrm>
          <a:prstGeom prst="ellipse">
            <a:avLst/>
          </a:prstGeom>
          <a:solidFill>
            <a:srgbClr val="F0F3ED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868918-94BD-438E-9A5B-8D5B3135000F}"/>
              </a:ext>
            </a:extLst>
          </p:cNvPr>
          <p:cNvSpPr>
            <a:spLocks noGrp="1"/>
          </p:cNvSpPr>
          <p:nvPr/>
        </p:nvSpPr>
        <p:spPr>
          <a:xfrm>
            <a:off x="5153025" y="3895725"/>
            <a:ext cx="247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82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82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EA7EF4-3A2D-4E32-BE12-38430A0421C0}"/>
              </a:ext>
            </a:extLst>
          </p:cNvPr>
          <p:cNvSpPr>
            <a:spLocks noGrp="1"/>
          </p:cNvSpPr>
          <p:nvPr/>
        </p:nvSpPr>
        <p:spPr>
          <a:xfrm>
            <a:off x="5619750" y="3848100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Useful feedback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E0CAF8-4D5D-409F-9BF2-4DB667087DAC}"/>
              </a:ext>
            </a:extLst>
          </p:cNvPr>
          <p:cNvSpPr>
            <a:spLocks noGrp="1"/>
          </p:cNvSpPr>
          <p:nvPr/>
        </p:nvSpPr>
        <p:spPr>
          <a:xfrm>
            <a:off x="5619750" y="4181475"/>
            <a:ext cx="561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See weekly completion, progress, and streak summaries.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E49D30B9-FF26-4D3C-A5E9-8D6602643AD4}"/>
              </a:ext>
            </a:extLst>
          </p:cNvPr>
          <p:cNvSpPr>
            <a:spLocks noGrp="1"/>
          </p:cNvSpPr>
          <p:nvPr/>
        </p:nvSpPr>
        <p:spPr>
          <a:xfrm>
            <a:off x="5619750" y="4648200"/>
            <a:ext cx="5543550" cy="95"/>
          </a:xfrm>
          <a:prstGeom prst="line">
            <a:avLst/>
          </a:prstGeom>
          <a:noFill/>
          <a:ln w="9525">
            <a:solidFill>
              <a:srgbClr val="E8ECE6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5622C5E-B33C-4644-9C47-4DEA4035FF5F}"/>
              </a:ext>
            </a:extLst>
          </p:cNvPr>
          <p:cNvSpPr>
            <a:spLocks noGrp="1"/>
          </p:cNvSpPr>
          <p:nvPr/>
        </p:nvSpPr>
        <p:spPr>
          <a:xfrm>
            <a:off x="5114925" y="4838700"/>
            <a:ext cx="323850" cy="323850"/>
          </a:xfrm>
          <a:prstGeom prst="ellipse">
            <a:avLst/>
          </a:prstGeom>
          <a:solidFill>
            <a:srgbClr val="F0F3ED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5128F6-74C1-4F26-86A2-7D2EB55E134E}"/>
              </a:ext>
            </a:extLst>
          </p:cNvPr>
          <p:cNvSpPr>
            <a:spLocks noGrp="1"/>
          </p:cNvSpPr>
          <p:nvPr/>
        </p:nvSpPr>
        <p:spPr>
          <a:xfrm>
            <a:off x="5153025" y="4895850"/>
            <a:ext cx="247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82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82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582E40-4D59-4C0C-8DEE-057B13D93B1B}"/>
              </a:ext>
            </a:extLst>
          </p:cNvPr>
          <p:cNvSpPr>
            <a:spLocks noGrp="1"/>
          </p:cNvSpPr>
          <p:nvPr/>
        </p:nvSpPr>
        <p:spPr>
          <a:xfrm>
            <a:off x="5619750" y="4848225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Private accounts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7F6684-676B-42DB-B234-D0B20047ACA2}"/>
              </a:ext>
            </a:extLst>
          </p:cNvPr>
          <p:cNvSpPr>
            <a:spLocks noGrp="1"/>
          </p:cNvSpPr>
          <p:nvPr/>
        </p:nvSpPr>
        <p:spPr>
          <a:xfrm>
            <a:off x="5619750" y="5181600"/>
            <a:ext cx="561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JWT sign-in keeps habit records scoped to each user.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249C5C9-E17A-44AF-9373-93B9DBF80C7C}"/>
              </a:ext>
            </a:extLst>
          </p:cNvPr>
          <p:cNvSpPr>
            <a:spLocks noGrp="1"/>
          </p:cNvSpPr>
          <p:nvPr/>
        </p:nvSpPr>
        <p:spPr>
          <a:xfrm>
            <a:off x="609600" y="5086350"/>
            <a:ext cx="4000500" cy="628650"/>
          </a:xfrm>
          <a:prstGeom prst="roundRect">
            <a:avLst>
              <a:gd name="adj" fmla="val 18182"/>
            </a:avLst>
          </a:prstGeom>
          <a:solidFill>
            <a:srgbClr val="EEF4EC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F1BFD6-5EF4-4C91-BD64-1F9513D4A722}"/>
              </a:ext>
            </a:extLst>
          </p:cNvPr>
          <p:cNvSpPr>
            <a:spLocks noGrp="1"/>
          </p:cNvSpPr>
          <p:nvPr/>
        </p:nvSpPr>
        <p:spPr>
          <a:xfrm>
            <a:off x="800100" y="5238750"/>
            <a:ext cx="36099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416B4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1" i="0">
                <a:solidFill>
                  <a:srgbClr val="416B4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16B4C"/>
                </a:solidFill>
                <a:latin typeface="Arial"/>
                <a:ea typeface="Arial"/>
                <a:cs typeface="Arial"/>
              </a:rPr>
              <a:t>Unique approach  Progress feels supportive, not punitive.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7E7EDB5-6AD3-4419-A197-3D2C60A39060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5715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79187"/>
                </a:solidFill>
                <a:latin typeface="Arial"/>
                <a:ea typeface="Arial"/>
                <a:cs typeface="Arial"/>
              </a:rPr>
              <a:t>DAYLIGHT  •  HABIT TRACKING APPLICATION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163BE1-C61C-4F5C-AD5A-2A06BB75391F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7918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15240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2A896115-82D5-419C-AF4F-70608F04A837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04   /   HOW IT WORKS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0E4C70-4933-459B-9A9D-ADA73AE91627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9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9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From a small promise to a visible result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7CD42F5-02F9-4612-ADD6-DE75089D9E2A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95"/>
          </a:xfrm>
          <a:prstGeom prst="line">
            <a:avLst/>
          </a:prstGeom>
          <a:noFill/>
          <a:ln w="9525">
            <a:solidFill>
              <a:srgbClr val="DDE3DA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93D968-9C0D-4F1F-AAE1-CCB6A2C005AC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4 / 7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C085053-2D7F-41D7-9437-C3DE70B64AF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2286000" cy="1847850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9525">
            <a:solidFill>
              <a:srgbClr val="E4E9E2"/>
            </a:solidFill>
            <a:prstDash val="solid"/>
          </a:ln>
        </p:spPr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530CCD4-2843-4FF4-9A09-0212C304C18C}"/>
              </a:ext>
            </a:extLst>
          </p:cNvPr>
          <p:cNvSpPr>
            <a:spLocks noGrp="1"/>
          </p:cNvSpPr>
          <p:nvPr/>
        </p:nvSpPr>
        <p:spPr>
          <a:xfrm>
            <a:off x="733425" y="2247900"/>
            <a:ext cx="361950" cy="361950"/>
          </a:xfrm>
          <a:prstGeom prst="ellipse">
            <a:avLst/>
          </a:prstGeom>
          <a:solidFill>
            <a:srgbClr val="E7F0E7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2BD382-11E4-4FA7-A5B7-33B3F98F1A09}"/>
              </a:ext>
            </a:extLst>
          </p:cNvPr>
          <p:cNvSpPr>
            <a:spLocks noGrp="1"/>
          </p:cNvSpPr>
          <p:nvPr/>
        </p:nvSpPr>
        <p:spPr>
          <a:xfrm>
            <a:off x="790575" y="2324100"/>
            <a:ext cx="2571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E83856-A9E3-408A-B2B3-1A630E90247A}"/>
              </a:ext>
            </a:extLst>
          </p:cNvPr>
          <p:cNvSpPr>
            <a:spLocks noGrp="1"/>
          </p:cNvSpPr>
          <p:nvPr/>
        </p:nvSpPr>
        <p:spPr>
          <a:xfrm>
            <a:off x="800100" y="27622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C97C12-8042-40C5-85DE-7A1B1CB36AB2}"/>
              </a:ext>
            </a:extLst>
          </p:cNvPr>
          <p:cNvSpPr>
            <a:spLocks noGrp="1"/>
          </p:cNvSpPr>
          <p:nvPr/>
        </p:nvSpPr>
        <p:spPr>
          <a:xfrm>
            <a:off x="800100" y="3105150"/>
            <a:ext cx="19526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Habit name</a:t>
            </a:r>
          </a:p>
          <a:p>
            <a:pPr algn="l">
              <a:defRPr sz="1275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Target · frequency</a:t>
            </a:r>
          </a:p>
          <a:p>
            <a:pPr algn="l">
              <a:defRPr sz="1275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Category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872B7702-CF9A-485A-B9C2-0DBBFD01B63E}"/>
              </a:ext>
            </a:extLst>
          </p:cNvPr>
          <p:cNvSpPr>
            <a:spLocks noGrp="1"/>
          </p:cNvSpPr>
          <p:nvPr/>
        </p:nvSpPr>
        <p:spPr>
          <a:xfrm>
            <a:off x="2952750" y="3009900"/>
            <a:ext cx="381000" cy="95"/>
          </a:xfrm>
          <a:prstGeom prst="line">
            <a:avLst/>
          </a:prstGeom>
          <a:noFill/>
          <a:ln w="19050">
            <a:solidFill>
              <a:srgbClr val="8FAA91"/>
            </a:solidFill>
            <a:prstDash val="solid"/>
          </a:ln>
        </p:spPr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EA4B1BB-8605-468B-B1BF-910DD4131261}"/>
              </a:ext>
            </a:extLst>
          </p:cNvPr>
          <p:cNvSpPr>
            <a:spLocks noGrp="1"/>
          </p:cNvSpPr>
          <p:nvPr/>
        </p:nvSpPr>
        <p:spPr>
          <a:xfrm>
            <a:off x="3257550" y="2943225"/>
            <a:ext cx="133350" cy="133350"/>
          </a:xfrm>
          <a:prstGeom prst="triangle">
            <a:avLst/>
          </a:prstGeom>
          <a:solidFill>
            <a:srgbClr val="8FAA91"/>
          </a:solidFill>
          <a:ln w="0">
            <a:noFill/>
            <a:prstDash val="solid"/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1023DCE-F7C3-41A9-BB8A-FDB742C5296D}"/>
              </a:ext>
            </a:extLst>
          </p:cNvPr>
          <p:cNvSpPr>
            <a:spLocks noGrp="1"/>
          </p:cNvSpPr>
          <p:nvPr/>
        </p:nvSpPr>
        <p:spPr>
          <a:xfrm>
            <a:off x="3390900" y="2095500"/>
            <a:ext cx="2286000" cy="1847850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9525">
            <a:solidFill>
              <a:srgbClr val="E4E9E2"/>
            </a:solidFill>
            <a:prstDash val="solid"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072B0C3-6B7A-42A3-A8DC-B29D6D07E7A1}"/>
              </a:ext>
            </a:extLst>
          </p:cNvPr>
          <p:cNvSpPr>
            <a:spLocks noGrp="1"/>
          </p:cNvSpPr>
          <p:nvPr/>
        </p:nvSpPr>
        <p:spPr>
          <a:xfrm>
            <a:off x="3514725" y="2247900"/>
            <a:ext cx="361950" cy="361950"/>
          </a:xfrm>
          <a:prstGeom prst="ellipse">
            <a:avLst/>
          </a:prstGeom>
          <a:solidFill>
            <a:srgbClr val="F4EBDD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DD29CC-51F6-40BB-A89C-333248013D38}"/>
              </a:ext>
            </a:extLst>
          </p:cNvPr>
          <p:cNvSpPr>
            <a:spLocks noGrp="1"/>
          </p:cNvSpPr>
          <p:nvPr/>
        </p:nvSpPr>
        <p:spPr>
          <a:xfrm>
            <a:off x="3571875" y="2324100"/>
            <a:ext cx="2571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53656A-D88A-4EE8-9670-2DB8F4BA1949}"/>
              </a:ext>
            </a:extLst>
          </p:cNvPr>
          <p:cNvSpPr>
            <a:spLocks noGrp="1"/>
          </p:cNvSpPr>
          <p:nvPr/>
        </p:nvSpPr>
        <p:spPr>
          <a:xfrm>
            <a:off x="3581400" y="27622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PROCESSING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B8C329-128E-4748-8876-6B06A234102D}"/>
              </a:ext>
            </a:extLst>
          </p:cNvPr>
          <p:cNvSpPr>
            <a:spLocks noGrp="1"/>
          </p:cNvSpPr>
          <p:nvPr/>
        </p:nvSpPr>
        <p:spPr>
          <a:xfrm>
            <a:off x="3581400" y="3105150"/>
            <a:ext cx="19526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React form</a:t>
            </a:r>
          </a:p>
          <a:p>
            <a:pPr algn="l">
              <a:defRPr sz="1275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REST request</a:t>
            </a:r>
          </a:p>
          <a:p>
            <a:pPr algn="l">
              <a:defRPr sz="1275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JWT identifies user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E1C98D88-F155-43E6-9C5E-A6B82AFF4590}"/>
              </a:ext>
            </a:extLst>
          </p:cNvPr>
          <p:cNvSpPr>
            <a:spLocks noGrp="1"/>
          </p:cNvSpPr>
          <p:nvPr/>
        </p:nvSpPr>
        <p:spPr>
          <a:xfrm>
            <a:off x="5734050" y="3009900"/>
            <a:ext cx="381000" cy="95"/>
          </a:xfrm>
          <a:prstGeom prst="line">
            <a:avLst/>
          </a:prstGeom>
          <a:noFill/>
          <a:ln w="19050">
            <a:solidFill>
              <a:srgbClr val="8FAA91"/>
            </a:solidFill>
            <a:prstDash val="solid"/>
          </a:ln>
        </p:spPr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598075E6-F787-4717-93A3-583D7F938FE5}"/>
              </a:ext>
            </a:extLst>
          </p:cNvPr>
          <p:cNvSpPr>
            <a:spLocks noGrp="1"/>
          </p:cNvSpPr>
          <p:nvPr/>
        </p:nvSpPr>
        <p:spPr>
          <a:xfrm>
            <a:off x="6038850" y="2943225"/>
            <a:ext cx="133350" cy="133350"/>
          </a:xfrm>
          <a:prstGeom prst="triangle">
            <a:avLst/>
          </a:prstGeom>
          <a:solidFill>
            <a:srgbClr val="8FAA91"/>
          </a:solidFill>
          <a:ln w="0">
            <a:noFill/>
            <a:prstDash val="solid"/>
          </a:ln>
        </p:spPr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55CF5E1-F87B-4F39-9179-A17B711A2E17}"/>
              </a:ext>
            </a:extLst>
          </p:cNvPr>
          <p:cNvSpPr>
            <a:spLocks noGrp="1"/>
          </p:cNvSpPr>
          <p:nvPr/>
        </p:nvSpPr>
        <p:spPr>
          <a:xfrm>
            <a:off x="6172200" y="2095500"/>
            <a:ext cx="2286000" cy="1847850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9525">
            <a:solidFill>
              <a:srgbClr val="E4E9E2"/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0A7BDD8-D26C-4ACC-B8F0-2103CF871F0D}"/>
              </a:ext>
            </a:extLst>
          </p:cNvPr>
          <p:cNvSpPr>
            <a:spLocks noGrp="1"/>
          </p:cNvSpPr>
          <p:nvPr/>
        </p:nvSpPr>
        <p:spPr>
          <a:xfrm>
            <a:off x="6296025" y="2247900"/>
            <a:ext cx="361950" cy="361950"/>
          </a:xfrm>
          <a:prstGeom prst="ellipse">
            <a:avLst/>
          </a:prstGeom>
          <a:solidFill>
            <a:srgbClr val="ECEAF3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702382-885B-4649-BF17-5A2CAD5C71A4}"/>
              </a:ext>
            </a:extLst>
          </p:cNvPr>
          <p:cNvSpPr>
            <a:spLocks noGrp="1"/>
          </p:cNvSpPr>
          <p:nvPr/>
        </p:nvSpPr>
        <p:spPr>
          <a:xfrm>
            <a:off x="6353175" y="2324100"/>
            <a:ext cx="2571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747F9C-56A3-43FE-ABD7-16C66275AD4E}"/>
              </a:ext>
            </a:extLst>
          </p:cNvPr>
          <p:cNvSpPr>
            <a:spLocks noGrp="1"/>
          </p:cNvSpPr>
          <p:nvPr/>
        </p:nvSpPr>
        <p:spPr>
          <a:xfrm>
            <a:off x="6362700" y="27622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ALGORITHM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F97EF2-F81D-49E5-B9D6-87F8C232FA29}"/>
              </a:ext>
            </a:extLst>
          </p:cNvPr>
          <p:cNvSpPr>
            <a:spLocks noGrp="1"/>
          </p:cNvSpPr>
          <p:nvPr/>
        </p:nvSpPr>
        <p:spPr>
          <a:xfrm>
            <a:off x="6362700" y="3105150"/>
            <a:ext cx="19526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Validate fields</a:t>
            </a:r>
          </a:p>
          <a:p>
            <a:pPr algn="l">
              <a:defRPr sz="1275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Match habit + date</a:t>
            </a:r>
          </a:p>
          <a:p>
            <a:pPr algn="l">
              <a:defRPr sz="1275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Save completion count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535BDEBA-A242-40C6-A04F-62703E39472A}"/>
              </a:ext>
            </a:extLst>
          </p:cNvPr>
          <p:cNvSpPr>
            <a:spLocks noGrp="1"/>
          </p:cNvSpPr>
          <p:nvPr/>
        </p:nvSpPr>
        <p:spPr>
          <a:xfrm>
            <a:off x="8515350" y="3009900"/>
            <a:ext cx="381000" cy="95"/>
          </a:xfrm>
          <a:prstGeom prst="line">
            <a:avLst/>
          </a:prstGeom>
          <a:noFill/>
          <a:ln w="19050">
            <a:solidFill>
              <a:srgbClr val="8FAA91"/>
            </a:solidFill>
            <a:prstDash val="solid"/>
          </a:ln>
        </p:spPr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024E8D18-DF87-4E20-9A3F-7F9D2763F4F7}"/>
              </a:ext>
            </a:extLst>
          </p:cNvPr>
          <p:cNvSpPr>
            <a:spLocks noGrp="1"/>
          </p:cNvSpPr>
          <p:nvPr/>
        </p:nvSpPr>
        <p:spPr>
          <a:xfrm>
            <a:off x="8820150" y="2943225"/>
            <a:ext cx="133350" cy="133350"/>
          </a:xfrm>
          <a:prstGeom prst="triangle">
            <a:avLst/>
          </a:prstGeom>
          <a:solidFill>
            <a:srgbClr val="8FAA91"/>
          </a:solidFill>
          <a:ln w="0">
            <a:noFill/>
            <a:prstDash val="solid"/>
          </a:ln>
        </p:spPr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7DA473D-A692-48B9-B432-E3F23BEFF9AD}"/>
              </a:ext>
            </a:extLst>
          </p:cNvPr>
          <p:cNvSpPr>
            <a:spLocks noGrp="1"/>
          </p:cNvSpPr>
          <p:nvPr/>
        </p:nvSpPr>
        <p:spPr>
          <a:xfrm>
            <a:off x="8953500" y="2095500"/>
            <a:ext cx="2286000" cy="1847850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9525">
            <a:solidFill>
              <a:srgbClr val="E4E9E2"/>
            </a:solidFill>
            <a:prstDash val="solid"/>
          </a:ln>
        </p:spPr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C8A2F58-ACF5-4F81-BD5C-EE33F6773867}"/>
              </a:ext>
            </a:extLst>
          </p:cNvPr>
          <p:cNvSpPr>
            <a:spLocks noGrp="1"/>
          </p:cNvSpPr>
          <p:nvPr/>
        </p:nvSpPr>
        <p:spPr>
          <a:xfrm>
            <a:off x="9077325" y="2247900"/>
            <a:ext cx="361950" cy="361950"/>
          </a:xfrm>
          <a:prstGeom prst="ellipse">
            <a:avLst/>
          </a:prstGeom>
          <a:solidFill>
            <a:srgbClr val="E5EFF0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B74FAFA-6345-438F-88A9-D8B0DB3892AE}"/>
              </a:ext>
            </a:extLst>
          </p:cNvPr>
          <p:cNvSpPr>
            <a:spLocks noGrp="1"/>
          </p:cNvSpPr>
          <p:nvPr/>
        </p:nvSpPr>
        <p:spPr>
          <a:xfrm>
            <a:off x="9134475" y="2324100"/>
            <a:ext cx="2571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7420041-190A-4242-B836-5257919CF645}"/>
              </a:ext>
            </a:extLst>
          </p:cNvPr>
          <p:cNvSpPr>
            <a:spLocks noGrp="1"/>
          </p:cNvSpPr>
          <p:nvPr/>
        </p:nvSpPr>
        <p:spPr>
          <a:xfrm>
            <a:off x="9144000" y="27622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F98DB7C-3671-4675-9AE4-5490DB92E01A}"/>
              </a:ext>
            </a:extLst>
          </p:cNvPr>
          <p:cNvSpPr>
            <a:spLocks noGrp="1"/>
          </p:cNvSpPr>
          <p:nvPr/>
        </p:nvSpPr>
        <p:spPr>
          <a:xfrm>
            <a:off x="9144000" y="3105150"/>
            <a:ext cx="19526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Today’s status</a:t>
            </a:r>
          </a:p>
          <a:p>
            <a:pPr algn="l">
              <a:defRPr sz="1275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Weekly progress</a:t>
            </a:r>
          </a:p>
          <a:p>
            <a:pPr algn="l">
              <a:defRPr sz="1275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Insights view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C56CE0-C502-4E59-BC4C-43B15EAEDAC3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USER JOURNEY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AC7FB67-A6AE-4BD4-A98F-01FA9A34E888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10287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Create an account  →  add a habit  →  check in each day  →  review progress  →  adjust the routine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FB54BAD-6C4B-4EE7-9DC7-896A10BD47E2}"/>
              </a:ext>
            </a:extLst>
          </p:cNvPr>
          <p:cNvSpPr>
            <a:spLocks noGrp="1"/>
          </p:cNvSpPr>
          <p:nvPr/>
        </p:nvSpPr>
        <p:spPr>
          <a:xfrm>
            <a:off x="609600" y="5562600"/>
            <a:ext cx="1038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MongoDB stores user, habit, and completion records. The dashboard refreshes from the API after each saved action.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8EDED11-03FB-4F72-9BBA-32C165A879CB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5715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79187"/>
                </a:solidFill>
                <a:latin typeface="Arial"/>
                <a:ea typeface="Arial"/>
                <a:cs typeface="Arial"/>
              </a:rPr>
              <a:t>DAYLIGHT  •  HABIT TRACKING APPLICATION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8CD5BE4-E53C-45B3-85D8-3CE95E7B36B8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7918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65220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91DD2B20-3D55-40A7-9EC6-20D5323DADF2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05   /   TECHNOLOGY &amp; ALGORITHM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27BDAF-CEC5-43EA-A5C1-A4AC086E180A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9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9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A MERN foundation with date-based tracking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7345FDC-A75A-4624-81A8-533B7B229BB7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95"/>
          </a:xfrm>
          <a:prstGeom prst="line">
            <a:avLst/>
          </a:prstGeom>
          <a:noFill/>
          <a:ln w="9525">
            <a:solidFill>
              <a:srgbClr val="DDE3DA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C105F8-1E76-4B95-B0EC-A9EBD1276013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5 / 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D7C91A-EDF2-4B82-8D41-9B42D7E2FBA1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TECHNOLOGY STACK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3271A90-6D21-476B-B196-49F2F36924DB}"/>
              </a:ext>
            </a:extLst>
          </p:cNvPr>
          <p:cNvSpPr>
            <a:spLocks noGrp="1"/>
          </p:cNvSpPr>
          <p:nvPr/>
        </p:nvSpPr>
        <p:spPr>
          <a:xfrm>
            <a:off x="647700" y="2095500"/>
            <a:ext cx="438150" cy="438150"/>
          </a:xfrm>
          <a:prstGeom prst="ellipse">
            <a:avLst/>
          </a:prstGeom>
          <a:solidFill>
            <a:srgbClr val="EAF1E9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F760E2-C5EC-4870-9F6C-553107424112}"/>
              </a:ext>
            </a:extLst>
          </p:cNvPr>
          <p:cNvSpPr>
            <a:spLocks noGrp="1"/>
          </p:cNvSpPr>
          <p:nvPr/>
        </p:nvSpPr>
        <p:spPr>
          <a:xfrm>
            <a:off x="752475" y="2209800"/>
            <a:ext cx="238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F1F181-97E0-4E6D-9FBF-C64C4B278972}"/>
              </a:ext>
            </a:extLst>
          </p:cNvPr>
          <p:cNvSpPr>
            <a:spLocks noGrp="1"/>
          </p:cNvSpPr>
          <p:nvPr/>
        </p:nvSpPr>
        <p:spPr>
          <a:xfrm>
            <a:off x="1238250" y="2114550"/>
            <a:ext cx="1666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MongoDB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91B110-12AC-42F7-9689-33E8FA6F2822}"/>
              </a:ext>
            </a:extLst>
          </p:cNvPr>
          <p:cNvSpPr>
            <a:spLocks noGrp="1"/>
          </p:cNvSpPr>
          <p:nvPr/>
        </p:nvSpPr>
        <p:spPr>
          <a:xfrm>
            <a:off x="1238250" y="23907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Users · habits · daily completions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AF53F511-4015-4772-AAA8-F0212F406231}"/>
              </a:ext>
            </a:extLst>
          </p:cNvPr>
          <p:cNvSpPr>
            <a:spLocks noGrp="1"/>
          </p:cNvSpPr>
          <p:nvPr/>
        </p:nvSpPr>
        <p:spPr>
          <a:xfrm>
            <a:off x="1238250" y="2752725"/>
            <a:ext cx="3867150" cy="95"/>
          </a:xfrm>
          <a:prstGeom prst="line">
            <a:avLst/>
          </a:prstGeom>
          <a:noFill/>
          <a:ln w="9525">
            <a:solidFill>
              <a:srgbClr val="EDF0EB"/>
            </a:solidFill>
            <a:prstDash val="solid"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FCAE377-2938-4B4A-A3C9-9B1A851602FD}"/>
              </a:ext>
            </a:extLst>
          </p:cNvPr>
          <p:cNvSpPr>
            <a:spLocks noGrp="1"/>
          </p:cNvSpPr>
          <p:nvPr/>
        </p:nvSpPr>
        <p:spPr>
          <a:xfrm>
            <a:off x="647700" y="2876550"/>
            <a:ext cx="438150" cy="438150"/>
          </a:xfrm>
          <a:prstGeom prst="ellipse">
            <a:avLst/>
          </a:prstGeom>
          <a:solidFill>
            <a:srgbClr val="F2EEE3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372CA9-5159-47A0-92C5-BDC1770A943B}"/>
              </a:ext>
            </a:extLst>
          </p:cNvPr>
          <p:cNvSpPr>
            <a:spLocks noGrp="1"/>
          </p:cNvSpPr>
          <p:nvPr/>
        </p:nvSpPr>
        <p:spPr>
          <a:xfrm>
            <a:off x="752475" y="2990850"/>
            <a:ext cx="238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192CA0-F936-482F-94E2-2A9416A054FB}"/>
              </a:ext>
            </a:extLst>
          </p:cNvPr>
          <p:cNvSpPr>
            <a:spLocks noGrp="1"/>
          </p:cNvSpPr>
          <p:nvPr/>
        </p:nvSpPr>
        <p:spPr>
          <a:xfrm>
            <a:off x="1238250" y="2895600"/>
            <a:ext cx="1666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Express.js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E87933-AA34-4757-85B3-BF495620988D}"/>
              </a:ext>
            </a:extLst>
          </p:cNvPr>
          <p:cNvSpPr>
            <a:spLocks noGrp="1"/>
          </p:cNvSpPr>
          <p:nvPr/>
        </p:nvSpPr>
        <p:spPr>
          <a:xfrm>
            <a:off x="1238250" y="31718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REST endpoints and request validation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44DD32AD-E704-455A-B49B-2C167ECBFD9D}"/>
              </a:ext>
            </a:extLst>
          </p:cNvPr>
          <p:cNvSpPr>
            <a:spLocks noGrp="1"/>
          </p:cNvSpPr>
          <p:nvPr/>
        </p:nvSpPr>
        <p:spPr>
          <a:xfrm>
            <a:off x="1238250" y="3533775"/>
            <a:ext cx="3867150" cy="95"/>
          </a:xfrm>
          <a:prstGeom prst="line">
            <a:avLst/>
          </a:prstGeom>
          <a:noFill/>
          <a:ln w="9525">
            <a:solidFill>
              <a:srgbClr val="EDF0EB"/>
            </a:solidFill>
            <a:prstDash val="solid"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6613FE-E1E5-4BB8-9105-4241A038661E}"/>
              </a:ext>
            </a:extLst>
          </p:cNvPr>
          <p:cNvSpPr>
            <a:spLocks noGrp="1"/>
          </p:cNvSpPr>
          <p:nvPr/>
        </p:nvSpPr>
        <p:spPr>
          <a:xfrm>
            <a:off x="647700" y="3657600"/>
            <a:ext cx="438150" cy="438150"/>
          </a:xfrm>
          <a:prstGeom prst="ellipse">
            <a:avLst/>
          </a:prstGeom>
          <a:solidFill>
            <a:srgbClr val="EAEAF1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2AD01B-AB9D-4166-9B58-73D35C6B95E1}"/>
              </a:ext>
            </a:extLst>
          </p:cNvPr>
          <p:cNvSpPr>
            <a:spLocks noGrp="1"/>
          </p:cNvSpPr>
          <p:nvPr/>
        </p:nvSpPr>
        <p:spPr>
          <a:xfrm>
            <a:off x="752475" y="3771900"/>
            <a:ext cx="238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948692-BE79-4D01-9A0A-74C97D803C1E}"/>
              </a:ext>
            </a:extLst>
          </p:cNvPr>
          <p:cNvSpPr>
            <a:spLocks noGrp="1"/>
          </p:cNvSpPr>
          <p:nvPr/>
        </p:nvSpPr>
        <p:spPr>
          <a:xfrm>
            <a:off x="1238250" y="3676650"/>
            <a:ext cx="1666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React.js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84097D-4605-4D33-B8D8-C67A01E805A0}"/>
              </a:ext>
            </a:extLst>
          </p:cNvPr>
          <p:cNvSpPr>
            <a:spLocks noGrp="1"/>
          </p:cNvSpPr>
          <p:nvPr/>
        </p:nvSpPr>
        <p:spPr>
          <a:xfrm>
            <a:off x="1238250" y="39528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Responsive dashboard and user flows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6FD05C6-F488-48EB-81EA-0D7F4FBCFF91}"/>
              </a:ext>
            </a:extLst>
          </p:cNvPr>
          <p:cNvSpPr>
            <a:spLocks noGrp="1"/>
          </p:cNvSpPr>
          <p:nvPr/>
        </p:nvSpPr>
        <p:spPr>
          <a:xfrm>
            <a:off x="1238250" y="4314825"/>
            <a:ext cx="3867150" cy="95"/>
          </a:xfrm>
          <a:prstGeom prst="line">
            <a:avLst/>
          </a:prstGeom>
          <a:noFill/>
          <a:ln w="9525">
            <a:solidFill>
              <a:srgbClr val="EDF0EB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60E0F2F-CACA-46AA-B8AF-826671C9F45F}"/>
              </a:ext>
            </a:extLst>
          </p:cNvPr>
          <p:cNvSpPr>
            <a:spLocks noGrp="1"/>
          </p:cNvSpPr>
          <p:nvPr/>
        </p:nvSpPr>
        <p:spPr>
          <a:xfrm>
            <a:off x="647700" y="4438650"/>
            <a:ext cx="438150" cy="438150"/>
          </a:xfrm>
          <a:prstGeom prst="ellipse">
            <a:avLst/>
          </a:prstGeom>
          <a:solidFill>
            <a:srgbClr val="EAF0E9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1EA54E1-FADA-4153-8A28-C2724F49819A}"/>
              </a:ext>
            </a:extLst>
          </p:cNvPr>
          <p:cNvSpPr>
            <a:spLocks noGrp="1"/>
          </p:cNvSpPr>
          <p:nvPr/>
        </p:nvSpPr>
        <p:spPr>
          <a:xfrm>
            <a:off x="752475" y="4552950"/>
            <a:ext cx="238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6A8F88-C0C9-4A2D-ACC8-099262C25466}"/>
              </a:ext>
            </a:extLst>
          </p:cNvPr>
          <p:cNvSpPr>
            <a:spLocks noGrp="1"/>
          </p:cNvSpPr>
          <p:nvPr/>
        </p:nvSpPr>
        <p:spPr>
          <a:xfrm>
            <a:off x="1238250" y="4457700"/>
            <a:ext cx="1666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Node.js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096B89-612F-4C2B-B6C8-2985C5F4575E}"/>
              </a:ext>
            </a:extLst>
          </p:cNvPr>
          <p:cNvSpPr>
            <a:spLocks noGrp="1"/>
          </p:cNvSpPr>
          <p:nvPr/>
        </p:nvSpPr>
        <p:spPr>
          <a:xfrm>
            <a:off x="1238250" y="47339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API runtime, JWT, password hashing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353137F5-6323-4676-B446-4FA297C4A9F8}"/>
              </a:ext>
            </a:extLst>
          </p:cNvPr>
          <p:cNvSpPr>
            <a:spLocks noGrp="1"/>
          </p:cNvSpPr>
          <p:nvPr/>
        </p:nvSpPr>
        <p:spPr>
          <a:xfrm>
            <a:off x="5715000" y="1790700"/>
            <a:ext cx="95" cy="3867150"/>
          </a:xfrm>
          <a:prstGeom prst="line">
            <a:avLst/>
          </a:prstGeom>
          <a:noFill/>
          <a:ln w="9525">
            <a:solidFill>
              <a:srgbClr val="DDE3DA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EE43863-98E3-4F99-8083-BA1F5FD8B863}"/>
              </a:ext>
            </a:extLst>
          </p:cNvPr>
          <p:cNvSpPr>
            <a:spLocks noGrp="1"/>
          </p:cNvSpPr>
          <p:nvPr/>
        </p:nvSpPr>
        <p:spPr>
          <a:xfrm>
            <a:off x="6153150" y="17335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COMPLETION LOGIC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D82340C-3AEE-487C-B3CE-538A8E801B72}"/>
              </a:ext>
            </a:extLst>
          </p:cNvPr>
          <p:cNvSpPr>
            <a:spLocks noGrp="1"/>
          </p:cNvSpPr>
          <p:nvPr/>
        </p:nvSpPr>
        <p:spPr>
          <a:xfrm>
            <a:off x="6153150" y="2095500"/>
            <a:ext cx="5048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Progress = habits meeting target ÷ active habits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0692794-BF57-4F49-B654-08D310134939}"/>
              </a:ext>
            </a:extLst>
          </p:cNvPr>
          <p:cNvSpPr>
            <a:spLocks noGrp="1"/>
          </p:cNvSpPr>
          <p:nvPr/>
        </p:nvSpPr>
        <p:spPr>
          <a:xfrm>
            <a:off x="6153150" y="2809875"/>
            <a:ext cx="4953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A completion is stored for one habit and one calendar date. The unique (habit, date) index supports safe updates.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6F7C205-4EF4-47E4-9B0F-FE7387FE6C6A}"/>
              </a:ext>
            </a:extLst>
          </p:cNvPr>
          <p:cNvSpPr>
            <a:spLocks noGrp="1"/>
          </p:cNvSpPr>
          <p:nvPr/>
        </p:nvSpPr>
        <p:spPr>
          <a:xfrm>
            <a:off x="6153150" y="3581400"/>
            <a:ext cx="5048250" cy="1276350"/>
          </a:xfrm>
          <a:prstGeom prst="roundRect">
            <a:avLst>
              <a:gd name="adj" fmla="val 8955"/>
            </a:avLst>
          </a:prstGeom>
          <a:solidFill>
            <a:srgbClr val="F0F4EF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B58478-D606-496C-853F-C82BBD7483A2}"/>
              </a:ext>
            </a:extLst>
          </p:cNvPr>
          <p:cNvSpPr>
            <a:spLocks noGrp="1"/>
          </p:cNvSpPr>
          <p:nvPr/>
        </p:nvSpPr>
        <p:spPr>
          <a:xfrm>
            <a:off x="6381750" y="377190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COMPLEXITY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A59FEF5-3090-461B-B905-337199868B41}"/>
              </a:ext>
            </a:extLst>
          </p:cNvPr>
          <p:cNvSpPr>
            <a:spLocks noGrp="1"/>
          </p:cNvSpPr>
          <p:nvPr/>
        </p:nvSpPr>
        <p:spPr>
          <a:xfrm>
            <a:off x="6381750" y="4114800"/>
            <a:ext cx="4514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Daily summary: O(H)   ·   H = active habits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CA31515-71D7-423A-A529-ED5DBF6FC1B7}"/>
              </a:ext>
            </a:extLst>
          </p:cNvPr>
          <p:cNvSpPr>
            <a:spLocks noGrp="1"/>
          </p:cNvSpPr>
          <p:nvPr/>
        </p:nvSpPr>
        <p:spPr>
          <a:xfrm>
            <a:off x="6381750" y="4467225"/>
            <a:ext cx="4457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Indexed completion lookup/update: O(log C) expected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650361F-150E-4863-93E2-D4B22EED4D01}"/>
              </a:ext>
            </a:extLst>
          </p:cNvPr>
          <p:cNvSpPr>
            <a:spLocks noGrp="1"/>
          </p:cNvSpPr>
          <p:nvPr/>
        </p:nvSpPr>
        <p:spPr>
          <a:xfrm>
            <a:off x="6153150" y="5133975"/>
            <a:ext cx="4972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History requests are capped at 500 records to keep the weekly view bounded.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D8E18B9-FC13-4108-8F3E-E94D4868EA4E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5715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79187"/>
                </a:solidFill>
                <a:latin typeface="Arial"/>
                <a:ea typeface="Arial"/>
                <a:cs typeface="Arial"/>
              </a:rPr>
              <a:t>DAYLIGHT  •  HABIT TRACKING APPLICATION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321005D-8376-46D6-A2A4-6FE2970ADC9B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7918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17228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5F744AB7-C2AF-403A-9CF8-69E2F099CD60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06   /   DEMO &amp; IMPACT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F90B07-DBA5-4F59-B2D6-37C15A062AA8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9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9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A quick check-in, a clearer picture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95D2A42-FCDC-4C81-8847-BA5B079B620D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95"/>
          </a:xfrm>
          <a:prstGeom prst="line">
            <a:avLst/>
          </a:prstGeom>
          <a:noFill/>
          <a:ln w="9525">
            <a:solidFill>
              <a:srgbClr val="DDE3DA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7F5138-5C10-485D-849C-85F46682838D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6 / 7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12D23F3-9649-49DA-A4F2-66C56BBCBE43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7239000" cy="4038600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9525">
            <a:solidFill>
              <a:srgbClr val="DDE4DB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8F9BBF-1212-469D-8B7C-28396B8FF720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1352550" cy="4038600"/>
          </a:xfrm>
          <a:prstGeom prst="roundRect">
            <a:avLst>
              <a:gd name="adj" fmla="val 9859"/>
            </a:avLst>
          </a:prstGeom>
          <a:solidFill>
            <a:srgbClr val="FBFCFA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690B7E-FD88-406E-9321-ABC932D5596A}"/>
              </a:ext>
            </a:extLst>
          </p:cNvPr>
          <p:cNvSpPr>
            <a:spLocks noGrp="1"/>
          </p:cNvSpPr>
          <p:nvPr/>
        </p:nvSpPr>
        <p:spPr>
          <a:xfrm>
            <a:off x="1828800" y="1752600"/>
            <a:ext cx="133350" cy="403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7B0165-5240-40E9-8FF2-EAF18B341A7E}"/>
              </a:ext>
            </a:extLst>
          </p:cNvPr>
          <p:cNvSpPr>
            <a:spLocks noGrp="1"/>
          </p:cNvSpPr>
          <p:nvPr/>
        </p:nvSpPr>
        <p:spPr>
          <a:xfrm>
            <a:off x="781050" y="1924050"/>
            <a:ext cx="1000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lang="en-IN" sz="1350" b="1" i="0" dirty="0">
                <a:solidFill>
                  <a:srgbClr val="24352C"/>
                </a:solidFill>
                <a:latin typeface="Arial"/>
                <a:ea typeface="Arial"/>
                <a:cs typeface="Arial"/>
              </a:rPr>
              <a:t>✳ daylight</a:t>
            </a:r>
            <a:endParaRPr sz="1350" b="1" i="0" dirty="0">
              <a:solidFill>
                <a:srgbClr val="24352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E2325D-52D1-4761-B617-5A96D74ECAF8}"/>
              </a:ext>
            </a:extLst>
          </p:cNvPr>
          <p:cNvSpPr>
            <a:spLocks noGrp="1"/>
          </p:cNvSpPr>
          <p:nvPr/>
        </p:nvSpPr>
        <p:spPr>
          <a:xfrm>
            <a:off x="800100" y="2428875"/>
            <a:ext cx="971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675" b="1" i="0">
                <a:solidFill>
                  <a:srgbClr val="9AA39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675" b="1" i="0">
                <a:solidFill>
                  <a:srgbClr val="9AA39A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9AA39A"/>
                </a:solidFill>
                <a:latin typeface="Arial"/>
                <a:ea typeface="Arial"/>
                <a:cs typeface="Arial"/>
              </a:rPr>
              <a:t>MENU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49370F4-8E86-460C-86FF-621C78BC9F11}"/>
              </a:ext>
            </a:extLst>
          </p:cNvPr>
          <p:cNvSpPr>
            <a:spLocks noGrp="1"/>
          </p:cNvSpPr>
          <p:nvPr/>
        </p:nvSpPr>
        <p:spPr>
          <a:xfrm>
            <a:off x="723900" y="2647950"/>
            <a:ext cx="1066800" cy="276225"/>
          </a:xfrm>
          <a:prstGeom prst="roundRect">
            <a:avLst>
              <a:gd name="adj" fmla="val 24138"/>
            </a:avLst>
          </a:prstGeom>
          <a:solidFill>
            <a:srgbClr val="EAF1E9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C68D1E-5A02-438F-8DA2-20E225C18164}"/>
              </a:ext>
            </a:extLst>
          </p:cNvPr>
          <p:cNvSpPr>
            <a:spLocks noGrp="1"/>
          </p:cNvSpPr>
          <p:nvPr/>
        </p:nvSpPr>
        <p:spPr>
          <a:xfrm>
            <a:off x="819150" y="2686050"/>
            <a:ext cx="171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0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▦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BD87A4-F94F-4E13-BC31-EE7BF4D86C8D}"/>
              </a:ext>
            </a:extLst>
          </p:cNvPr>
          <p:cNvSpPr>
            <a:spLocks noGrp="1"/>
          </p:cNvSpPr>
          <p:nvPr/>
        </p:nvSpPr>
        <p:spPr>
          <a:xfrm>
            <a:off x="1047750" y="2686050"/>
            <a:ext cx="819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2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01A9A8-E0F7-41C1-938B-6C5714863304}"/>
              </a:ext>
            </a:extLst>
          </p:cNvPr>
          <p:cNvSpPr>
            <a:spLocks noGrp="1"/>
          </p:cNvSpPr>
          <p:nvPr/>
        </p:nvSpPr>
        <p:spPr>
          <a:xfrm>
            <a:off x="819150" y="3057525"/>
            <a:ext cx="171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0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▤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8FAA05-B975-4E98-8DD0-D8DB95CEA2AD}"/>
              </a:ext>
            </a:extLst>
          </p:cNvPr>
          <p:cNvSpPr>
            <a:spLocks noGrp="1"/>
          </p:cNvSpPr>
          <p:nvPr/>
        </p:nvSpPr>
        <p:spPr>
          <a:xfrm>
            <a:off x="1047750" y="3057525"/>
            <a:ext cx="819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My habits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61E214-B96F-4CCC-AD55-4B6641769A5E}"/>
              </a:ext>
            </a:extLst>
          </p:cNvPr>
          <p:cNvSpPr>
            <a:spLocks noGrp="1"/>
          </p:cNvSpPr>
          <p:nvPr/>
        </p:nvSpPr>
        <p:spPr>
          <a:xfrm>
            <a:off x="819150" y="3429000"/>
            <a:ext cx="171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0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▥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933A81-DCA0-4D71-AFE0-BF835B6B0250}"/>
              </a:ext>
            </a:extLst>
          </p:cNvPr>
          <p:cNvSpPr>
            <a:spLocks noGrp="1"/>
          </p:cNvSpPr>
          <p:nvPr/>
        </p:nvSpPr>
        <p:spPr>
          <a:xfrm>
            <a:off x="1047750" y="3429000"/>
            <a:ext cx="819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Insights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F08BF0-A38D-4ED9-9E6F-EB21C55B103D}"/>
              </a:ext>
            </a:extLst>
          </p:cNvPr>
          <p:cNvSpPr>
            <a:spLocks noGrp="1"/>
          </p:cNvSpPr>
          <p:nvPr/>
        </p:nvSpPr>
        <p:spPr>
          <a:xfrm>
            <a:off x="2171700" y="1962150"/>
            <a:ext cx="41910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My space   /   Overview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E3CFC7-60FA-4F73-BFF3-A20B81D54EB1}"/>
              </a:ext>
            </a:extLst>
          </p:cNvPr>
          <p:cNvSpPr>
            <a:spLocks noGrp="1"/>
          </p:cNvSpPr>
          <p:nvPr/>
        </p:nvSpPr>
        <p:spPr>
          <a:xfrm>
            <a:off x="2171700" y="2324100"/>
            <a:ext cx="438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lang="en-US" sz="1875" b="1" i="0" dirty="0">
                <a:solidFill>
                  <a:srgbClr val="24352C"/>
                </a:solidFill>
                <a:latin typeface="Arial"/>
                <a:ea typeface="Arial"/>
                <a:cs typeface="Arial"/>
              </a:rPr>
              <a:t>A little progress, every day.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E13C8A-8441-4464-96C4-A9015739819A}"/>
              </a:ext>
            </a:extLst>
          </p:cNvPr>
          <p:cNvSpPr>
            <a:spLocks noGrp="1"/>
          </p:cNvSpPr>
          <p:nvPr/>
        </p:nvSpPr>
        <p:spPr>
          <a:xfrm>
            <a:off x="2171700" y="2676525"/>
            <a:ext cx="419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Showing up for yourself looks good on you.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DC6938A-F95A-4499-806F-1966EBDF3939}"/>
              </a:ext>
            </a:extLst>
          </p:cNvPr>
          <p:cNvSpPr>
            <a:spLocks noGrp="1"/>
          </p:cNvSpPr>
          <p:nvPr/>
        </p:nvSpPr>
        <p:spPr>
          <a:xfrm>
            <a:off x="2171700" y="3009900"/>
            <a:ext cx="5362575" cy="1047750"/>
          </a:xfrm>
          <a:prstGeom prst="roundRect">
            <a:avLst>
              <a:gd name="adj" fmla="val 9091"/>
            </a:avLst>
          </a:prstGeom>
          <a:solidFill>
            <a:srgbClr val="EAF1E9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0B83DC-3055-47B6-A8B0-BC5431ED1C67}"/>
              </a:ext>
            </a:extLst>
          </p:cNvPr>
          <p:cNvSpPr>
            <a:spLocks noGrp="1"/>
          </p:cNvSpPr>
          <p:nvPr/>
        </p:nvSpPr>
        <p:spPr>
          <a:xfrm>
            <a:off x="2362200" y="3190875"/>
            <a:ext cx="22860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6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6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TODAY, AT YOUR PACE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0F7E4B-7B1A-4B7C-A393-0D487FE313BA}"/>
              </a:ext>
            </a:extLst>
          </p:cNvPr>
          <p:cNvSpPr>
            <a:spLocks noGrp="1"/>
          </p:cNvSpPr>
          <p:nvPr/>
        </p:nvSpPr>
        <p:spPr>
          <a:xfrm>
            <a:off x="2362200" y="340995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307" lnSpcReduction="20000"/>
          </a:bodyPr>
          <a:lstStyle>
            <a:defPPr algn="l">
              <a:defRPr sz="15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575" b="1" i="0" dirty="0">
                <a:solidFill>
                  <a:srgbClr val="24352C"/>
                </a:solidFill>
                <a:latin typeface="Arial"/>
                <a:ea typeface="Arial"/>
                <a:cs typeface="Arial"/>
              </a:rPr>
              <a:t>You’re growing something good.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65D3F8-1C9F-4461-B921-498E4B50274B}"/>
              </a:ext>
            </a:extLst>
          </p:cNvPr>
          <p:cNvSpPr>
            <a:spLocks noGrp="1"/>
          </p:cNvSpPr>
          <p:nvPr/>
        </p:nvSpPr>
        <p:spPr>
          <a:xfrm>
            <a:off x="2362200" y="3781425"/>
            <a:ext cx="28098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Every small promise is a reason to feel proud.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852EC0D-4AF8-48B2-84B9-9C1A7CC9026E}"/>
              </a:ext>
            </a:extLst>
          </p:cNvPr>
          <p:cNvSpPr>
            <a:spLocks noGrp="1"/>
          </p:cNvSpPr>
          <p:nvPr/>
        </p:nvSpPr>
        <p:spPr>
          <a:xfrm>
            <a:off x="2171700" y="4210050"/>
            <a:ext cx="161925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8ECE6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DE93B5F-54E2-44EF-B281-B4652C6A2DB5}"/>
              </a:ext>
            </a:extLst>
          </p:cNvPr>
          <p:cNvSpPr>
            <a:spLocks noGrp="1"/>
          </p:cNvSpPr>
          <p:nvPr/>
        </p:nvSpPr>
        <p:spPr>
          <a:xfrm>
            <a:off x="2314575" y="4324350"/>
            <a:ext cx="1333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600" b="1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600" b="1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600" b="1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DAILY PROGRESS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487A799-3F04-4E87-8047-3DF8D4E421B7}"/>
              </a:ext>
            </a:extLst>
          </p:cNvPr>
          <p:cNvSpPr>
            <a:spLocks noGrp="1"/>
          </p:cNvSpPr>
          <p:nvPr/>
        </p:nvSpPr>
        <p:spPr>
          <a:xfrm>
            <a:off x="2314575" y="451485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4643D0-90E1-4F4A-93B1-53F359A6CC62}"/>
              </a:ext>
            </a:extLst>
          </p:cNvPr>
          <p:cNvSpPr>
            <a:spLocks noGrp="1"/>
          </p:cNvSpPr>
          <p:nvPr/>
        </p:nvSpPr>
        <p:spPr>
          <a:xfrm>
            <a:off x="2857500" y="4591050"/>
            <a:ext cx="819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67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67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1 of 5 done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10A9960-0CAB-4B62-BC9B-EE81376DF350}"/>
              </a:ext>
            </a:extLst>
          </p:cNvPr>
          <p:cNvSpPr>
            <a:spLocks noGrp="1"/>
          </p:cNvSpPr>
          <p:nvPr/>
        </p:nvSpPr>
        <p:spPr>
          <a:xfrm>
            <a:off x="3905250" y="4210050"/>
            <a:ext cx="161925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8ECE6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19B45F-8619-4561-BCAD-2D2A0E960301}"/>
              </a:ext>
            </a:extLst>
          </p:cNvPr>
          <p:cNvSpPr>
            <a:spLocks noGrp="1"/>
          </p:cNvSpPr>
          <p:nvPr/>
        </p:nvSpPr>
        <p:spPr>
          <a:xfrm>
            <a:off x="4048125" y="4324350"/>
            <a:ext cx="1333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600" b="1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600" b="1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600" b="1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BEST STREAK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43DF427-A1C2-4E5C-85E6-6B3ECCB1364D}"/>
              </a:ext>
            </a:extLst>
          </p:cNvPr>
          <p:cNvSpPr>
            <a:spLocks noGrp="1"/>
          </p:cNvSpPr>
          <p:nvPr/>
        </p:nvSpPr>
        <p:spPr>
          <a:xfrm>
            <a:off x="4048125" y="4514850"/>
            <a:ext cx="714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6DDA686-D5F0-44E6-8771-7A2B5276641C}"/>
              </a:ext>
            </a:extLst>
          </p:cNvPr>
          <p:cNvSpPr>
            <a:spLocks noGrp="1"/>
          </p:cNvSpPr>
          <p:nvPr/>
        </p:nvSpPr>
        <p:spPr>
          <a:xfrm>
            <a:off x="4400550" y="4591050"/>
            <a:ext cx="8953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67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67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days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32318F-268B-4035-85BD-8CDE768AD62C}"/>
              </a:ext>
            </a:extLst>
          </p:cNvPr>
          <p:cNvSpPr>
            <a:spLocks noGrp="1"/>
          </p:cNvSpPr>
          <p:nvPr/>
        </p:nvSpPr>
        <p:spPr>
          <a:xfrm>
            <a:off x="2171700" y="5133975"/>
            <a:ext cx="409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6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6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TODAY’S HABITS</a:t>
            </a:r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B4CDFB1E-95F5-45DE-9E42-D10404F7C991}"/>
              </a:ext>
            </a:extLst>
          </p:cNvPr>
          <p:cNvSpPr>
            <a:spLocks noGrp="1"/>
          </p:cNvSpPr>
          <p:nvPr/>
        </p:nvSpPr>
        <p:spPr>
          <a:xfrm>
            <a:off x="2171700" y="5457825"/>
            <a:ext cx="5353050" cy="95"/>
          </a:xfrm>
          <a:prstGeom prst="line">
            <a:avLst/>
          </a:prstGeom>
          <a:noFill/>
          <a:ln w="9525">
            <a:solidFill>
              <a:srgbClr val="EEF0EC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80BB275-49C1-4798-8D3E-4D02CD0438BC}"/>
              </a:ext>
            </a:extLst>
          </p:cNvPr>
          <p:cNvSpPr>
            <a:spLocks noGrp="1"/>
          </p:cNvSpPr>
          <p:nvPr/>
        </p:nvSpPr>
        <p:spPr>
          <a:xfrm>
            <a:off x="2209800" y="5343525"/>
            <a:ext cx="3143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600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600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Water · Wellness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FBB111B-D96F-4F96-9268-7F03C6667F55}"/>
              </a:ext>
            </a:extLst>
          </p:cNvPr>
          <p:cNvSpPr>
            <a:spLocks noGrp="1"/>
          </p:cNvSpPr>
          <p:nvPr/>
        </p:nvSpPr>
        <p:spPr>
          <a:xfrm>
            <a:off x="6772275" y="5343525"/>
            <a:ext cx="6858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6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6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5 / 8</a:t>
            </a:r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3B4D350B-87DB-41F7-9ADF-C5D025ED65B4}"/>
              </a:ext>
            </a:extLst>
          </p:cNvPr>
          <p:cNvSpPr>
            <a:spLocks noGrp="1"/>
          </p:cNvSpPr>
          <p:nvPr/>
        </p:nvSpPr>
        <p:spPr>
          <a:xfrm>
            <a:off x="2171700" y="5591175"/>
            <a:ext cx="5353050" cy="95"/>
          </a:xfrm>
          <a:prstGeom prst="line">
            <a:avLst/>
          </a:prstGeom>
          <a:noFill/>
          <a:ln w="9525">
            <a:solidFill>
              <a:srgbClr val="EEF0EC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CAD3F0C-9C72-4BD2-B588-428D642FB2D0}"/>
              </a:ext>
            </a:extLst>
          </p:cNvPr>
          <p:cNvSpPr>
            <a:spLocks noGrp="1"/>
          </p:cNvSpPr>
          <p:nvPr/>
        </p:nvSpPr>
        <p:spPr>
          <a:xfrm>
            <a:off x="2209800" y="5476875"/>
            <a:ext cx="3143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600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600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Read · Learning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F2E6FEE-B882-45E9-B0D0-3E6C969678B8}"/>
              </a:ext>
            </a:extLst>
          </p:cNvPr>
          <p:cNvSpPr>
            <a:spLocks noGrp="1"/>
          </p:cNvSpPr>
          <p:nvPr/>
        </p:nvSpPr>
        <p:spPr>
          <a:xfrm>
            <a:off x="6772275" y="5476875"/>
            <a:ext cx="6858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6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6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8A961CB7-1F71-4ECC-BD54-7D6467A4D9AA}"/>
              </a:ext>
            </a:extLst>
          </p:cNvPr>
          <p:cNvSpPr>
            <a:spLocks noGrp="1"/>
          </p:cNvSpPr>
          <p:nvPr/>
        </p:nvSpPr>
        <p:spPr>
          <a:xfrm>
            <a:off x="2171700" y="5724525"/>
            <a:ext cx="5353050" cy="95"/>
          </a:xfrm>
          <a:prstGeom prst="line">
            <a:avLst/>
          </a:prstGeom>
          <a:noFill/>
          <a:ln w="9525">
            <a:solidFill>
              <a:srgbClr val="EEF0EC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E839560-0ED3-4E6B-9671-2E8C90897ACD}"/>
              </a:ext>
            </a:extLst>
          </p:cNvPr>
          <p:cNvSpPr>
            <a:spLocks noGrp="1"/>
          </p:cNvSpPr>
          <p:nvPr/>
        </p:nvSpPr>
        <p:spPr>
          <a:xfrm>
            <a:off x="2209800" y="5610225"/>
            <a:ext cx="3143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600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600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Move · Fitness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328CB2A-E83D-4A9D-8550-075722EDD22C}"/>
              </a:ext>
            </a:extLst>
          </p:cNvPr>
          <p:cNvSpPr>
            <a:spLocks noGrp="1"/>
          </p:cNvSpPr>
          <p:nvPr/>
        </p:nvSpPr>
        <p:spPr>
          <a:xfrm>
            <a:off x="6772275" y="5610225"/>
            <a:ext cx="6858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6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6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Not yet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C1CBC5C-24FC-4715-ACC2-4607B24B609E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Illustrative app preview · progress figures use sample data, not measured user results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312121B-E72D-414C-9CE0-17A820CAEFDB}"/>
              </a:ext>
            </a:extLst>
          </p:cNvPr>
          <p:cNvSpPr>
            <a:spLocks noGrp="1"/>
          </p:cNvSpPr>
          <p:nvPr/>
        </p:nvSpPr>
        <p:spPr>
          <a:xfrm>
            <a:off x="8286750" y="1819275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WHAT THE DEMO SHOWS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F087DE4-BC50-49C7-A804-B3E301867C75}"/>
              </a:ext>
            </a:extLst>
          </p:cNvPr>
          <p:cNvSpPr>
            <a:spLocks noGrp="1"/>
          </p:cNvSpPr>
          <p:nvPr/>
        </p:nvSpPr>
        <p:spPr>
          <a:xfrm>
            <a:off x="8305800" y="2228850"/>
            <a:ext cx="285750" cy="285750"/>
          </a:xfrm>
          <a:prstGeom prst="ellipse">
            <a:avLst/>
          </a:prstGeom>
          <a:solidFill>
            <a:srgbClr val="EAF1E9"/>
          </a:solidFill>
          <a:ln w="0">
            <a:noFill/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DE7F595-1E6D-4E11-9084-8F899BB18550}"/>
              </a:ext>
            </a:extLst>
          </p:cNvPr>
          <p:cNvSpPr>
            <a:spLocks noGrp="1"/>
          </p:cNvSpPr>
          <p:nvPr/>
        </p:nvSpPr>
        <p:spPr>
          <a:xfrm>
            <a:off x="8353425" y="2295525"/>
            <a:ext cx="19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6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6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C8C0208-C9FF-4485-9237-2ED767DED74F}"/>
              </a:ext>
            </a:extLst>
          </p:cNvPr>
          <p:cNvSpPr>
            <a:spLocks noGrp="1"/>
          </p:cNvSpPr>
          <p:nvPr/>
        </p:nvSpPr>
        <p:spPr>
          <a:xfrm>
            <a:off x="8715375" y="2238375"/>
            <a:ext cx="2667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See today at a glance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EAA2A52-7D33-40E1-8FBA-B1BEB2740FD9}"/>
              </a:ext>
            </a:extLst>
          </p:cNvPr>
          <p:cNvSpPr>
            <a:spLocks noGrp="1"/>
          </p:cNvSpPr>
          <p:nvPr/>
        </p:nvSpPr>
        <p:spPr>
          <a:xfrm>
            <a:off x="8715375" y="2543175"/>
            <a:ext cx="2571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Completion status and targets are visible beside each habit.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EE02A6F-4877-4E92-844C-D1746F81DC17}"/>
              </a:ext>
            </a:extLst>
          </p:cNvPr>
          <p:cNvSpPr>
            <a:spLocks noGrp="1"/>
          </p:cNvSpPr>
          <p:nvPr/>
        </p:nvSpPr>
        <p:spPr>
          <a:xfrm>
            <a:off x="8305800" y="3295650"/>
            <a:ext cx="285750" cy="285750"/>
          </a:xfrm>
          <a:prstGeom prst="ellipse">
            <a:avLst/>
          </a:prstGeom>
          <a:solidFill>
            <a:srgbClr val="F4EBDD"/>
          </a:solidFill>
          <a:ln w="0">
            <a:noFill/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7B5A546-F75E-4914-B482-239FC6A392EB}"/>
              </a:ext>
            </a:extLst>
          </p:cNvPr>
          <p:cNvSpPr>
            <a:spLocks noGrp="1"/>
          </p:cNvSpPr>
          <p:nvPr/>
        </p:nvSpPr>
        <p:spPr>
          <a:xfrm>
            <a:off x="8353425" y="3362325"/>
            <a:ext cx="19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6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6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0191C7C-4CCC-4F4E-AA98-A38115AF6823}"/>
              </a:ext>
            </a:extLst>
          </p:cNvPr>
          <p:cNvSpPr>
            <a:spLocks noGrp="1"/>
          </p:cNvSpPr>
          <p:nvPr/>
        </p:nvSpPr>
        <p:spPr>
          <a:xfrm>
            <a:off x="8715375" y="3305175"/>
            <a:ext cx="2667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Manage the routine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A87F2EB-80F2-44EA-9D36-B41C2F4EEBED}"/>
              </a:ext>
            </a:extLst>
          </p:cNvPr>
          <p:cNvSpPr>
            <a:spLocks noGrp="1"/>
          </p:cNvSpPr>
          <p:nvPr/>
        </p:nvSpPr>
        <p:spPr>
          <a:xfrm>
            <a:off x="8715375" y="3609975"/>
            <a:ext cx="2571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Create, edit, archive, and delete habits from the interface.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42A2556-9328-4633-8B16-56F3D69E917E}"/>
              </a:ext>
            </a:extLst>
          </p:cNvPr>
          <p:cNvSpPr>
            <a:spLocks noGrp="1"/>
          </p:cNvSpPr>
          <p:nvPr/>
        </p:nvSpPr>
        <p:spPr>
          <a:xfrm>
            <a:off x="8305800" y="4362450"/>
            <a:ext cx="285750" cy="285750"/>
          </a:xfrm>
          <a:prstGeom prst="ellipse">
            <a:avLst/>
          </a:prstGeom>
          <a:solidFill>
            <a:srgbClr val="EAF1E9"/>
          </a:solidFill>
          <a:ln w="0">
            <a:noFill/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9B2A3DF-42F5-47CF-A965-61BA49FA0C7B}"/>
              </a:ext>
            </a:extLst>
          </p:cNvPr>
          <p:cNvSpPr>
            <a:spLocks noGrp="1"/>
          </p:cNvSpPr>
          <p:nvPr/>
        </p:nvSpPr>
        <p:spPr>
          <a:xfrm>
            <a:off x="8353425" y="4429125"/>
            <a:ext cx="19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6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6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34F6353-B3A4-4D2A-9033-26AD5B5F8DCC}"/>
              </a:ext>
            </a:extLst>
          </p:cNvPr>
          <p:cNvSpPr>
            <a:spLocks noGrp="1"/>
          </p:cNvSpPr>
          <p:nvPr/>
        </p:nvSpPr>
        <p:spPr>
          <a:xfrm>
            <a:off x="8715375" y="4371975"/>
            <a:ext cx="2667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Keep progress personal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7CEEED8-4902-4A33-B760-3339734E6F60}"/>
              </a:ext>
            </a:extLst>
          </p:cNvPr>
          <p:cNvSpPr>
            <a:spLocks noGrp="1"/>
          </p:cNvSpPr>
          <p:nvPr/>
        </p:nvSpPr>
        <p:spPr>
          <a:xfrm>
            <a:off x="8715375" y="4676775"/>
            <a:ext cx="2571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Sign-in and per-user records support private tracking.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D7D7FBD-2F9B-416F-B393-C9958064F8F4}"/>
              </a:ext>
            </a:extLst>
          </p:cNvPr>
          <p:cNvSpPr>
            <a:spLocks noGrp="1"/>
          </p:cNvSpPr>
          <p:nvPr/>
        </p:nvSpPr>
        <p:spPr>
          <a:xfrm>
            <a:off x="8286750" y="5467350"/>
            <a:ext cx="3028950" cy="409575"/>
          </a:xfrm>
          <a:prstGeom prst="roundRect">
            <a:avLst>
              <a:gd name="adj" fmla="val 18605"/>
            </a:avLst>
          </a:prstGeom>
          <a:solidFill>
            <a:srgbClr val="EAF1E9"/>
          </a:solidFill>
          <a:ln w="0">
            <a:noFill/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AC479B1-935D-4310-A803-9E7A8FF8FFCC}"/>
              </a:ext>
            </a:extLst>
          </p:cNvPr>
          <p:cNvSpPr>
            <a:spLocks noGrp="1"/>
          </p:cNvSpPr>
          <p:nvPr/>
        </p:nvSpPr>
        <p:spPr>
          <a:xfrm>
            <a:off x="8439150" y="5591175"/>
            <a:ext cx="2724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512"/>
          </a:bodyPr>
          <a:lstStyle>
            <a:defPPr algn="l">
              <a:defRPr sz="900" b="1" i="0">
                <a:solidFill>
                  <a:srgbClr val="416B4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1" i="0">
                <a:solidFill>
                  <a:srgbClr val="416B4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416B4C"/>
                </a:solidFill>
                <a:latin typeface="Arial"/>
                <a:ea typeface="Arial"/>
                <a:cs typeface="Arial"/>
              </a:rPr>
              <a:t>Practical benefit: less guesswork, more follow-through.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3866A72-24EA-4325-8878-7723F276620D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5715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79187"/>
                </a:solidFill>
                <a:latin typeface="Arial"/>
                <a:ea typeface="Arial"/>
                <a:cs typeface="Arial"/>
              </a:rPr>
              <a:t>DAYLIGHT  •  HABIT TRACKING APPLICATION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043B627-FDA2-45FA-8C72-671EDE738BB0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7918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12775322-886F-957F-FB0B-0DE10EB56F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94" y="1400080"/>
            <a:ext cx="8057381" cy="439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350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E9F40A4F-7150-4D89-B861-4BA02ED6D037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B5C7B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B5C7B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5C7B7"/>
                </a:solidFill>
                <a:latin typeface="Arial"/>
                <a:ea typeface="Arial"/>
                <a:cs typeface="Arial"/>
              </a:rPr>
              <a:t>07   /   FUTURE VISION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7E9099-6913-4AC5-9347-864DA272A869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925" b="1" i="0">
                <a:solidFill>
                  <a:srgbClr val="E8EFE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925" b="1" i="0">
                <a:solidFill>
                  <a:srgbClr val="E8EFE7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E8EFE7"/>
                </a:solidFill>
                <a:latin typeface="Arial"/>
                <a:ea typeface="Arial"/>
                <a:cs typeface="Arial"/>
              </a:rPr>
              <a:t>A stronger routine, one release at a time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17C72D3-48D2-4354-AE80-43600CE44378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95"/>
          </a:xfrm>
          <a:prstGeom prst="line">
            <a:avLst/>
          </a:prstGeom>
          <a:noFill/>
          <a:ln w="9525">
            <a:solidFill>
              <a:srgbClr val="3C5949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01C0B9-2C16-4259-895D-799F90CB647C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00" b="0" i="0">
                <a:solidFill>
                  <a:srgbClr val="B5C7B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0" i="0">
                <a:solidFill>
                  <a:srgbClr val="B5C7B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B5C7B7"/>
                </a:solidFill>
                <a:latin typeface="Arial"/>
                <a:ea typeface="Arial"/>
                <a:cs typeface="Arial"/>
              </a:rPr>
              <a:t>7 / 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640B4E-D377-4F64-8E6B-8E105ED108CE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AFC8B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AFC8B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FC8B1"/>
                </a:solidFill>
                <a:latin typeface="Arial"/>
                <a:ea typeface="Arial"/>
                <a:cs typeface="Arial"/>
              </a:rPr>
              <a:t>BUILT TODAY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234B4BB-5369-46CC-BE4F-21DB3DC6C0B2}"/>
              </a:ext>
            </a:extLst>
          </p:cNvPr>
          <p:cNvSpPr>
            <a:spLocks noGrp="1"/>
          </p:cNvSpPr>
          <p:nvPr/>
        </p:nvSpPr>
        <p:spPr>
          <a:xfrm>
            <a:off x="685800" y="2228850"/>
            <a:ext cx="76200" cy="76200"/>
          </a:xfrm>
          <a:prstGeom prst="ellipse">
            <a:avLst/>
          </a:prstGeom>
          <a:solidFill>
            <a:srgbClr val="E2BE79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BF1EEE-4EAC-4716-9283-A4C7A043E197}"/>
              </a:ext>
            </a:extLst>
          </p:cNvPr>
          <p:cNvSpPr>
            <a:spLocks noGrp="1"/>
          </p:cNvSpPr>
          <p:nvPr/>
        </p:nvSpPr>
        <p:spPr>
          <a:xfrm>
            <a:off x="914400" y="218122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MERN dashboard and REST API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CB19F31-E4CF-4033-9A9E-49353F88D8F4}"/>
              </a:ext>
            </a:extLst>
          </p:cNvPr>
          <p:cNvSpPr>
            <a:spLocks noGrp="1"/>
          </p:cNvSpPr>
          <p:nvPr/>
        </p:nvSpPr>
        <p:spPr>
          <a:xfrm>
            <a:off x="685800" y="2705100"/>
            <a:ext cx="76200" cy="76200"/>
          </a:xfrm>
          <a:prstGeom prst="ellipse">
            <a:avLst/>
          </a:prstGeom>
          <a:solidFill>
            <a:srgbClr val="E2BE79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A7D3BB-0EA8-4FBE-9A9F-E969AB0DDD16}"/>
              </a:ext>
            </a:extLst>
          </p:cNvPr>
          <p:cNvSpPr>
            <a:spLocks noGrp="1"/>
          </p:cNvSpPr>
          <p:nvPr/>
        </p:nvSpPr>
        <p:spPr>
          <a:xfrm>
            <a:off x="914400" y="265747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Account registration and sign-in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3DC6CEB-D863-4A4A-ABF8-F52AAF011F5A}"/>
              </a:ext>
            </a:extLst>
          </p:cNvPr>
          <p:cNvSpPr>
            <a:spLocks noGrp="1"/>
          </p:cNvSpPr>
          <p:nvPr/>
        </p:nvSpPr>
        <p:spPr>
          <a:xfrm>
            <a:off x="685800" y="3181350"/>
            <a:ext cx="76200" cy="76200"/>
          </a:xfrm>
          <a:prstGeom prst="ellipse">
            <a:avLst/>
          </a:prstGeom>
          <a:solidFill>
            <a:srgbClr val="E2BE79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157EB7-6ED5-42D4-A8F6-C687827AA9C7}"/>
              </a:ext>
            </a:extLst>
          </p:cNvPr>
          <p:cNvSpPr>
            <a:spLocks noGrp="1"/>
          </p:cNvSpPr>
          <p:nvPr/>
        </p:nvSpPr>
        <p:spPr>
          <a:xfrm>
            <a:off x="914400" y="313372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Habit and completion CRUD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25BDFFE-C855-4C92-AE0D-71211D04D7CD}"/>
              </a:ext>
            </a:extLst>
          </p:cNvPr>
          <p:cNvSpPr>
            <a:spLocks noGrp="1"/>
          </p:cNvSpPr>
          <p:nvPr/>
        </p:nvSpPr>
        <p:spPr>
          <a:xfrm>
            <a:off x="685800" y="3657600"/>
            <a:ext cx="76200" cy="76200"/>
          </a:xfrm>
          <a:prstGeom prst="ellipse">
            <a:avLst/>
          </a:prstGeom>
          <a:solidFill>
            <a:srgbClr val="E2BE79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532580-6A63-43AB-A94C-F90A3CA5D47F}"/>
              </a:ext>
            </a:extLst>
          </p:cNvPr>
          <p:cNvSpPr>
            <a:spLocks noGrp="1"/>
          </p:cNvSpPr>
          <p:nvPr/>
        </p:nvSpPr>
        <p:spPr>
          <a:xfrm>
            <a:off x="914400" y="360997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Insights and account preferences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5E2B75A4-C822-4C3F-8202-076049E7A93E}"/>
              </a:ext>
            </a:extLst>
          </p:cNvPr>
          <p:cNvSpPr>
            <a:spLocks noGrp="1"/>
          </p:cNvSpPr>
          <p:nvPr/>
        </p:nvSpPr>
        <p:spPr>
          <a:xfrm>
            <a:off x="4524375" y="1809750"/>
            <a:ext cx="95" cy="3009900"/>
          </a:xfrm>
          <a:prstGeom prst="line">
            <a:avLst/>
          </a:prstGeom>
          <a:noFill/>
          <a:ln w="9525">
            <a:solidFill>
              <a:srgbClr val="426452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D8DBF5-1D6B-43D1-AC81-74699039C006}"/>
              </a:ext>
            </a:extLst>
          </p:cNvPr>
          <p:cNvSpPr>
            <a:spLocks noGrp="1"/>
          </p:cNvSpPr>
          <p:nvPr/>
        </p:nvSpPr>
        <p:spPr>
          <a:xfrm>
            <a:off x="5029200" y="1752600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AFC8B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AFC8B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FC8B1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35BF7D-4748-4BFF-BE18-B05952A6A9CC}"/>
              </a:ext>
            </a:extLst>
          </p:cNvPr>
          <p:cNvSpPr>
            <a:spLocks noGrp="1"/>
          </p:cNvSpPr>
          <p:nvPr/>
        </p:nvSpPr>
        <p:spPr>
          <a:xfrm>
            <a:off x="5048250" y="21526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 i="0">
                <a:solidFill>
                  <a:srgbClr val="E2BE7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1" i="0">
                <a:solidFill>
                  <a:srgbClr val="E2BE7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2BE7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DEFCDE-D32D-4C1B-85C4-436DCA74C178}"/>
              </a:ext>
            </a:extLst>
          </p:cNvPr>
          <p:cNvSpPr>
            <a:spLocks noGrp="1"/>
          </p:cNvSpPr>
          <p:nvPr/>
        </p:nvSpPr>
        <p:spPr>
          <a:xfrm>
            <a:off x="5467350" y="2152650"/>
            <a:ext cx="542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More complete streak and trend analytics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895529BC-8417-46F8-BA88-A8FCC5202AA7}"/>
              </a:ext>
            </a:extLst>
          </p:cNvPr>
          <p:cNvSpPr>
            <a:spLocks noGrp="1"/>
          </p:cNvSpPr>
          <p:nvPr/>
        </p:nvSpPr>
        <p:spPr>
          <a:xfrm>
            <a:off x="5467350" y="2562225"/>
            <a:ext cx="5467350" cy="95"/>
          </a:xfrm>
          <a:prstGeom prst="line">
            <a:avLst/>
          </a:prstGeom>
          <a:noFill/>
          <a:ln w="9525">
            <a:solidFill>
              <a:srgbClr val="345746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63E0B5-8E43-4B17-B863-9D896B18C771}"/>
              </a:ext>
            </a:extLst>
          </p:cNvPr>
          <p:cNvSpPr>
            <a:spLocks noGrp="1"/>
          </p:cNvSpPr>
          <p:nvPr/>
        </p:nvSpPr>
        <p:spPr>
          <a:xfrm>
            <a:off x="5048250" y="27813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 i="0">
                <a:solidFill>
                  <a:srgbClr val="E2BE7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1" i="0">
                <a:solidFill>
                  <a:srgbClr val="E2BE7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2BE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E68A7A-D002-4542-8A94-2350E80D48E0}"/>
              </a:ext>
            </a:extLst>
          </p:cNvPr>
          <p:cNvSpPr>
            <a:spLocks noGrp="1"/>
          </p:cNvSpPr>
          <p:nvPr/>
        </p:nvSpPr>
        <p:spPr>
          <a:xfrm>
            <a:off x="5467350" y="2781300"/>
            <a:ext cx="542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Scheduled reminders and weekly summaries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9027B288-D030-43D0-B13D-DD889A5B5AE5}"/>
              </a:ext>
            </a:extLst>
          </p:cNvPr>
          <p:cNvSpPr>
            <a:spLocks noGrp="1"/>
          </p:cNvSpPr>
          <p:nvPr/>
        </p:nvSpPr>
        <p:spPr>
          <a:xfrm>
            <a:off x="5467350" y="3190875"/>
            <a:ext cx="5467350" cy="95"/>
          </a:xfrm>
          <a:prstGeom prst="line">
            <a:avLst/>
          </a:prstGeom>
          <a:noFill/>
          <a:ln w="9525">
            <a:solidFill>
              <a:srgbClr val="345746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105AA6-8021-4116-B942-F2713142FC45}"/>
              </a:ext>
            </a:extLst>
          </p:cNvPr>
          <p:cNvSpPr>
            <a:spLocks noGrp="1"/>
          </p:cNvSpPr>
          <p:nvPr/>
        </p:nvSpPr>
        <p:spPr>
          <a:xfrm>
            <a:off x="5048250" y="34099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 i="0">
                <a:solidFill>
                  <a:srgbClr val="E2BE7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1" i="0">
                <a:solidFill>
                  <a:srgbClr val="E2BE7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2BE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8B3094-F76F-4E57-907A-377AEDFE1D0B}"/>
              </a:ext>
            </a:extLst>
          </p:cNvPr>
          <p:cNvSpPr>
            <a:spLocks noGrp="1"/>
          </p:cNvSpPr>
          <p:nvPr/>
        </p:nvSpPr>
        <p:spPr>
          <a:xfrm>
            <a:off x="5467350" y="3409950"/>
            <a:ext cx="542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Cloud deployment, backups, and monitoring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24FA7BED-7707-4586-88FB-623608B6CE2C}"/>
              </a:ext>
            </a:extLst>
          </p:cNvPr>
          <p:cNvSpPr>
            <a:spLocks noGrp="1"/>
          </p:cNvSpPr>
          <p:nvPr/>
        </p:nvSpPr>
        <p:spPr>
          <a:xfrm>
            <a:off x="5467350" y="3819525"/>
            <a:ext cx="5467350" cy="95"/>
          </a:xfrm>
          <a:prstGeom prst="line">
            <a:avLst/>
          </a:prstGeom>
          <a:noFill/>
          <a:ln w="9525">
            <a:solidFill>
              <a:srgbClr val="345746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44E725-B6F5-42BC-BFAD-ABFCF5F7D630}"/>
              </a:ext>
            </a:extLst>
          </p:cNvPr>
          <p:cNvSpPr>
            <a:spLocks noGrp="1"/>
          </p:cNvSpPr>
          <p:nvPr/>
        </p:nvSpPr>
        <p:spPr>
          <a:xfrm>
            <a:off x="5048250" y="40386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 i="0">
                <a:solidFill>
                  <a:srgbClr val="E2BE7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1" i="0">
                <a:solidFill>
                  <a:srgbClr val="E2BE7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2BE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82BA1D8-E437-447A-8480-1749FAACD217}"/>
              </a:ext>
            </a:extLst>
          </p:cNvPr>
          <p:cNvSpPr>
            <a:spLocks noGrp="1"/>
          </p:cNvSpPr>
          <p:nvPr/>
        </p:nvSpPr>
        <p:spPr>
          <a:xfrm>
            <a:off x="5467350" y="4038600"/>
            <a:ext cx="542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 challenges for groups or teams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BB0A30E-5242-4252-83E3-CEB87961C3E4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838200"/>
          </a:xfrm>
          <a:prstGeom prst="roundRect">
            <a:avLst>
              <a:gd name="adj" fmla="val 15909"/>
            </a:avLst>
          </a:prstGeom>
          <a:solidFill>
            <a:srgbClr val="254B3A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801D69-B79C-4C10-A700-D5B207E4C1B1}"/>
              </a:ext>
            </a:extLst>
          </p:cNvPr>
          <p:cNvSpPr>
            <a:spLocks noGrp="1"/>
          </p:cNvSpPr>
          <p:nvPr/>
        </p:nvSpPr>
        <p:spPr>
          <a:xfrm>
            <a:off x="895350" y="5343525"/>
            <a:ext cx="771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Small habits become meaningful when progress is easy to see.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D41F4E0-D315-4E31-A811-B4736BC23CC2}"/>
              </a:ext>
            </a:extLst>
          </p:cNvPr>
          <p:cNvSpPr>
            <a:spLocks noGrp="1"/>
          </p:cNvSpPr>
          <p:nvPr/>
        </p:nvSpPr>
        <p:spPr>
          <a:xfrm>
            <a:off x="895350" y="5734050"/>
            <a:ext cx="457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 i="0">
                <a:solidFill>
                  <a:srgbClr val="B6CBB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1" i="0">
                <a:solidFill>
                  <a:srgbClr val="B6CBB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6CBB8"/>
                </a:solidFill>
                <a:latin typeface="Arial"/>
                <a:ea typeface="Arial"/>
                <a:cs typeface="Arial"/>
              </a:rPr>
              <a:t>DAYLIGHT  ·  THANK YOU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B31EB1B-94DB-4F1D-B3DD-13B2CAB49729}"/>
              </a:ext>
            </a:extLst>
          </p:cNvPr>
          <p:cNvSpPr>
            <a:spLocks noGrp="1"/>
          </p:cNvSpPr>
          <p:nvPr/>
        </p:nvSpPr>
        <p:spPr>
          <a:xfrm>
            <a:off x="9906000" y="5429250"/>
            <a:ext cx="133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2100" b="1" i="0">
                <a:solidFill>
                  <a:srgbClr val="E2BE79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2100" b="1" i="0">
                <a:solidFill>
                  <a:srgbClr val="E2BE79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E2BE79"/>
                </a:solidFill>
                <a:latin typeface="Arial"/>
                <a:ea typeface="Arial"/>
                <a:cs typeface="Arial"/>
              </a:rPr>
              <a:t>Q &amp; A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A4B665C-9166-4463-A9CA-FD47CF766CE6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5715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9FB5A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1" i="0">
                <a:solidFill>
                  <a:srgbClr val="9FB5A2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9FB5A2"/>
                </a:solidFill>
                <a:latin typeface="Arial"/>
                <a:ea typeface="Arial"/>
                <a:cs typeface="Arial"/>
              </a:rPr>
              <a:t>DAYLIGHT  •  HABIT TRACKING APPLICATION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2D6E58-3650-4D01-904E-E989539C7726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750" b="1" i="0">
                <a:solidFill>
                  <a:srgbClr val="9FB5A2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750" b="1" i="0">
                <a:solidFill>
                  <a:srgbClr val="9FB5A2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9FB5A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682756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961</Words>
  <Application>Microsoft Office PowerPoint</Application>
  <DocSecurity>0</DocSecurity>
  <PresentationFormat>Widescreen</PresentationFormat>
  <Paragraphs>176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Ashwanth Ambati</cp:lastModifiedBy>
  <cp:revision>6</cp:revision>
  <dcterms:created xsi:type="dcterms:W3CDTF">2026-10-09T19:20:43Z</dcterms:created>
  <dcterms:modified xsi:type="dcterms:W3CDTF">2026-10-10T06:54:52Z</dcterms:modified>
</cp:coreProperties>
</file>